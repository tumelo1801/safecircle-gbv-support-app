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4"/>
  </p:notesMasterIdLst>
  <p:sldIdLst>
    <p:sldId id="256" r:id="rId2"/>
    <p:sldId id="258" r:id="rId3"/>
    <p:sldId id="259" r:id="rId4"/>
    <p:sldId id="262" r:id="rId5"/>
    <p:sldId id="261" r:id="rId6"/>
    <p:sldId id="263" r:id="rId7"/>
    <p:sldId id="264" r:id="rId8"/>
    <p:sldId id="265" r:id="rId9"/>
    <p:sldId id="268" r:id="rId10"/>
    <p:sldId id="270" r:id="rId11"/>
    <p:sldId id="274" r:id="rId12"/>
    <p:sldId id="275" r:id="rId13"/>
  </p:sldIdLst>
  <p:sldSz cx="9144000" cy="5143500" type="screen16x9"/>
  <p:notesSz cx="6858000" cy="9144000"/>
  <p:embeddedFontLst>
    <p:embeddedFont>
      <p:font typeface="Poppins" panose="00000500000000000000" pitchFamily="2" charset="0"/>
      <p:regular r:id="rId15"/>
      <p:bold r:id="rId16"/>
      <p:italic r:id="rId17"/>
      <p:boldItalic r:id="rId18"/>
    </p:embeddedFont>
    <p:embeddedFont>
      <p:font typeface="Poppins ExtraLight" panose="00000300000000000000" pitchFamily="2" charset="0"/>
      <p:regular r:id="rId19"/>
      <p:italic r:id="rId20"/>
    </p:embeddedFont>
    <p:embeddedFont>
      <p:font typeface="Poppins SemiBold" panose="000007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1EB965-8A2C-41B6-A4AB-A5DB8CC09A55}" v="83" dt="2025-05-08T18:39:26.124"/>
  </p1510:revLst>
</p1510:revInfo>
</file>

<file path=ppt/tableStyles.xml><?xml version="1.0" encoding="utf-8"?>
<a:tblStyleLst xmlns:a="http://schemas.openxmlformats.org/drawingml/2006/main" def="{AFA7B368-8809-4A5C-AC6C-97F52983E13B}">
  <a:tblStyle styleId="{AFA7B368-8809-4A5C-AC6C-97F52983E13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86405" autoAdjust="0"/>
  </p:normalViewPr>
  <p:slideViewPr>
    <p:cSldViewPr snapToGrid="0">
      <p:cViewPr varScale="1">
        <p:scale>
          <a:sx n="94" d="100"/>
          <a:sy n="94" d="100"/>
        </p:scale>
        <p:origin x="557" y="96"/>
      </p:cViewPr>
      <p:guideLst/>
    </p:cSldViewPr>
  </p:slideViewPr>
  <p:outlineViewPr>
    <p:cViewPr>
      <p:scale>
        <a:sx n="33" d="100"/>
        <a:sy n="33" d="100"/>
      </p:scale>
      <p:origin x="0" y="-3624"/>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melo Tumi" userId="cd11a719c3830950" providerId="LiveId" clId="{C51EB965-8A2C-41B6-A4AB-A5DB8CC09A55}"/>
    <pc:docChg chg="undo custSel modSld sldOrd">
      <pc:chgData name="Tumelo Tumi" userId="cd11a719c3830950" providerId="LiveId" clId="{C51EB965-8A2C-41B6-A4AB-A5DB8CC09A55}" dt="2025-05-09T10:07:17.542" v="1125" actId="20577"/>
      <pc:docMkLst>
        <pc:docMk/>
      </pc:docMkLst>
      <pc:sldChg chg="modSp mod">
        <pc:chgData name="Tumelo Tumi" userId="cd11a719c3830950" providerId="LiveId" clId="{C51EB965-8A2C-41B6-A4AB-A5DB8CC09A55}" dt="2025-05-09T10:07:17.542" v="1125" actId="20577"/>
        <pc:sldMkLst>
          <pc:docMk/>
          <pc:sldMk cId="0" sldId="256"/>
        </pc:sldMkLst>
        <pc:spChg chg="mod">
          <ac:chgData name="Tumelo Tumi" userId="cd11a719c3830950" providerId="LiveId" clId="{C51EB965-8A2C-41B6-A4AB-A5DB8CC09A55}" dt="2025-05-09T10:07:17.542" v="1125" actId="20577"/>
          <ac:spMkLst>
            <pc:docMk/>
            <pc:sldMk cId="0" sldId="256"/>
            <ac:spMk id="300" creationId="{00000000-0000-0000-0000-000000000000}"/>
          </ac:spMkLst>
        </pc:spChg>
      </pc:sldChg>
      <pc:sldChg chg="modSp mod ord">
        <pc:chgData name="Tumelo Tumi" userId="cd11a719c3830950" providerId="LiveId" clId="{C51EB965-8A2C-41B6-A4AB-A5DB8CC09A55}" dt="2025-05-08T15:24:27.808" v="1051"/>
        <pc:sldMkLst>
          <pc:docMk/>
          <pc:sldMk cId="0" sldId="259"/>
        </pc:sldMkLst>
        <pc:spChg chg="mod">
          <ac:chgData name="Tumelo Tumi" userId="cd11a719c3830950" providerId="LiveId" clId="{C51EB965-8A2C-41B6-A4AB-A5DB8CC09A55}" dt="2025-05-08T15:23:41.606" v="1049" actId="20577"/>
          <ac:spMkLst>
            <pc:docMk/>
            <pc:sldMk cId="0" sldId="259"/>
            <ac:spMk id="347" creationId="{00000000-0000-0000-0000-000000000000}"/>
          </ac:spMkLst>
        </pc:spChg>
      </pc:sldChg>
      <pc:sldChg chg="modSp mod">
        <pc:chgData name="Tumelo Tumi" userId="cd11a719c3830950" providerId="LiveId" clId="{C51EB965-8A2C-41B6-A4AB-A5DB8CC09A55}" dt="2025-05-08T20:55:00.404" v="1122" actId="20577"/>
        <pc:sldMkLst>
          <pc:docMk/>
          <pc:sldMk cId="0" sldId="261"/>
        </pc:sldMkLst>
        <pc:spChg chg="mod">
          <ac:chgData name="Tumelo Tumi" userId="cd11a719c3830950" providerId="LiveId" clId="{C51EB965-8A2C-41B6-A4AB-A5DB8CC09A55}" dt="2025-05-08T20:55:00.404" v="1122" actId="20577"/>
          <ac:spMkLst>
            <pc:docMk/>
            <pc:sldMk cId="0" sldId="261"/>
            <ac:spMk id="8" creationId="{0D9A4C8C-B705-3AAA-2047-D72D77C5890D}"/>
          </ac:spMkLst>
        </pc:spChg>
      </pc:sldChg>
      <pc:sldChg chg="addSp delSp modSp mod">
        <pc:chgData name="Tumelo Tumi" userId="cd11a719c3830950" providerId="LiveId" clId="{C51EB965-8A2C-41B6-A4AB-A5DB8CC09A55}" dt="2025-05-08T15:19:49.743" v="1016" actId="1076"/>
        <pc:sldMkLst>
          <pc:docMk/>
          <pc:sldMk cId="0" sldId="263"/>
        </pc:sldMkLst>
        <pc:spChg chg="add mod">
          <ac:chgData name="Tumelo Tumi" userId="cd11a719c3830950" providerId="LiveId" clId="{C51EB965-8A2C-41B6-A4AB-A5DB8CC09A55}" dt="2025-05-08T15:19:37.892" v="1014" actId="1076"/>
          <ac:spMkLst>
            <pc:docMk/>
            <pc:sldMk cId="0" sldId="263"/>
            <ac:spMk id="4" creationId="{95BFB5CA-F311-A589-146F-E83DC9BF887D}"/>
          </ac:spMkLst>
        </pc:spChg>
        <pc:spChg chg="add mod">
          <ac:chgData name="Tumelo Tumi" userId="cd11a719c3830950" providerId="LiveId" clId="{C51EB965-8A2C-41B6-A4AB-A5DB8CC09A55}" dt="2025-05-08T15:19:31.717" v="1012" actId="1076"/>
          <ac:spMkLst>
            <pc:docMk/>
            <pc:sldMk cId="0" sldId="263"/>
            <ac:spMk id="5" creationId="{46AC1DF6-03A9-3AF7-6F9B-F4E1E96D94ED}"/>
          </ac:spMkLst>
        </pc:spChg>
        <pc:spChg chg="add del mod">
          <ac:chgData name="Tumelo Tumi" userId="cd11a719c3830950" providerId="LiveId" clId="{C51EB965-8A2C-41B6-A4AB-A5DB8CC09A55}" dt="2025-05-08T15:19:27.538" v="1011" actId="21"/>
          <ac:spMkLst>
            <pc:docMk/>
            <pc:sldMk cId="0" sldId="263"/>
            <ac:spMk id="7" creationId="{9593A0E4-A915-D025-834E-4775BBBC7DEB}"/>
          </ac:spMkLst>
        </pc:spChg>
        <pc:spChg chg="add mod">
          <ac:chgData name="Tumelo Tumi" userId="cd11a719c3830950" providerId="LiveId" clId="{C51EB965-8A2C-41B6-A4AB-A5DB8CC09A55}" dt="2025-05-08T15:15:53.466" v="985" actId="207"/>
          <ac:spMkLst>
            <pc:docMk/>
            <pc:sldMk cId="0" sldId="263"/>
            <ac:spMk id="8" creationId="{8276AFE1-0BDE-D37F-557E-90DFA7D2CAE0}"/>
          </ac:spMkLst>
        </pc:spChg>
        <pc:spChg chg="add mod">
          <ac:chgData name="Tumelo Tumi" userId="cd11a719c3830950" providerId="LiveId" clId="{C51EB965-8A2C-41B6-A4AB-A5DB8CC09A55}" dt="2025-05-08T15:19:33.634" v="1013" actId="1076"/>
          <ac:spMkLst>
            <pc:docMk/>
            <pc:sldMk cId="0" sldId="263"/>
            <ac:spMk id="9" creationId="{9611C6E7-BD3C-B725-F69F-C46A56D50E56}"/>
          </ac:spMkLst>
        </pc:spChg>
        <pc:spChg chg="add mod">
          <ac:chgData name="Tumelo Tumi" userId="cd11a719c3830950" providerId="LiveId" clId="{C51EB965-8A2C-41B6-A4AB-A5DB8CC09A55}" dt="2025-05-08T15:19:49.743" v="1016" actId="1076"/>
          <ac:spMkLst>
            <pc:docMk/>
            <pc:sldMk cId="0" sldId="263"/>
            <ac:spMk id="10" creationId="{339E5C51-FF79-3C7F-F4EE-DA53902BEE0D}"/>
          </ac:spMkLst>
        </pc:spChg>
        <pc:spChg chg="add mod">
          <ac:chgData name="Tumelo Tumi" userId="cd11a719c3830950" providerId="LiveId" clId="{C51EB965-8A2C-41B6-A4AB-A5DB8CC09A55}" dt="2025-05-08T15:19:43.137" v="1015" actId="1076"/>
          <ac:spMkLst>
            <pc:docMk/>
            <pc:sldMk cId="0" sldId="263"/>
            <ac:spMk id="11" creationId="{20A4C239-732B-8269-FE69-798360EB9329}"/>
          </ac:spMkLst>
        </pc:spChg>
      </pc:sldChg>
      <pc:sldChg chg="addSp modSp mod">
        <pc:chgData name="Tumelo Tumi" userId="cd11a719c3830950" providerId="LiveId" clId="{C51EB965-8A2C-41B6-A4AB-A5DB8CC09A55}" dt="2025-05-08T18:26:46.563" v="1118" actId="14100"/>
        <pc:sldMkLst>
          <pc:docMk/>
          <pc:sldMk cId="0" sldId="270"/>
        </pc:sldMkLst>
        <pc:spChg chg="add mod">
          <ac:chgData name="Tumelo Tumi" userId="cd11a719c3830950" providerId="LiveId" clId="{C51EB965-8A2C-41B6-A4AB-A5DB8CC09A55}" dt="2025-05-08T16:19:03.210" v="1093" actId="5793"/>
          <ac:spMkLst>
            <pc:docMk/>
            <pc:sldMk cId="0" sldId="270"/>
            <ac:spMk id="4" creationId="{94675AC3-D497-99CE-8E13-3AE0CE9ADD82}"/>
          </ac:spMkLst>
        </pc:spChg>
        <pc:spChg chg="add mod">
          <ac:chgData name="Tumelo Tumi" userId="cd11a719c3830950" providerId="LiveId" clId="{C51EB965-8A2C-41B6-A4AB-A5DB8CC09A55}" dt="2025-05-08T18:26:46.563" v="1118" actId="14100"/>
          <ac:spMkLst>
            <pc:docMk/>
            <pc:sldMk cId="0" sldId="270"/>
            <ac:spMk id="5" creationId="{62F053F0-BD22-97E4-3B72-BFC0DCF1994E}"/>
          </ac:spMkLst>
        </pc:spChg>
      </pc:sldChg>
      <pc:sldChg chg="modSp">
        <pc:chgData name="Tumelo Tumi" userId="cd11a719c3830950" providerId="LiveId" clId="{C51EB965-8A2C-41B6-A4AB-A5DB8CC09A55}" dt="2025-05-08T18:39:26.124" v="1119" actId="1037"/>
        <pc:sldMkLst>
          <pc:docMk/>
          <pc:sldMk cId="0" sldId="274"/>
        </pc:sldMkLst>
        <pc:spChg chg="mod">
          <ac:chgData name="Tumelo Tumi" userId="cd11a719c3830950" providerId="LiveId" clId="{C51EB965-8A2C-41B6-A4AB-A5DB8CC09A55}" dt="2025-05-08T18:39:26.124" v="1119" actId="1037"/>
          <ac:spMkLst>
            <pc:docMk/>
            <pc:sldMk cId="0" sldId="274"/>
            <ac:spMk id="2" creationId="{D3634860-5140-B7E5-0297-045084E4EC7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d20c5dacb7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d20c5dacb7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19685e331d_0_177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119685e331d_0_177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119685e331d_0_177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119685e331d_0_177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1196d4d0dd9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1196d4d0dd9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1196d4d0dd9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1196d4d0dd9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d20c5dacb7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d20c5dacb7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1196d4d0dd9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1196d4d0dd9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119685e331d_0_177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119685e331d_0_177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1196d4d0dd9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1196d4d0dd9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g1196d4d0dd9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2" name="Google Shape;652;g1196d4d0dd9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g119685e331d_0_177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4" name="Google Shape;674;g119685e331d_0_17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p:nvPr/>
        </p:nvSpPr>
        <p:spPr>
          <a:xfrm rot="-1720358">
            <a:off x="-795996" y="-869105"/>
            <a:ext cx="3728393" cy="3728393"/>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337999" y="1010498"/>
            <a:ext cx="6468000" cy="184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2464116" y="3184649"/>
            <a:ext cx="4213200" cy="330600"/>
          </a:xfrm>
          <a:prstGeom prst="rect">
            <a:avLst/>
          </a:prstGeom>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14" name="Google Shape;14;p2"/>
          <p:cNvSpPr txBox="1">
            <a:spLocks noGrp="1"/>
          </p:cNvSpPr>
          <p:nvPr>
            <p:ph type="subTitle" idx="2"/>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5" name="Google Shape;15;p2"/>
          <p:cNvSpPr txBox="1">
            <a:spLocks noGrp="1"/>
          </p:cNvSpPr>
          <p:nvPr>
            <p:ph type="subTitle" idx="3"/>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cxnSp>
        <p:nvCxnSpPr>
          <p:cNvPr id="16" name="Google Shape;16;p2"/>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713075" y="539400"/>
            <a:ext cx="7717800" cy="572700"/>
          </a:xfrm>
          <a:prstGeom prst="rect">
            <a:avLst/>
          </a:prstGeom>
        </p:spPr>
        <p:txBody>
          <a:bodyPr spcFirstLastPara="1" wrap="square" lIns="91425" tIns="91425" rIns="91425" bIns="91425" anchor="t"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37" name="Google Shape;37;p5"/>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
        <p:nvSpPr>
          <p:cNvPr id="38" name="Google Shape;38;p5"/>
          <p:cNvSpPr txBox="1">
            <a:spLocks noGrp="1"/>
          </p:cNvSpPr>
          <p:nvPr>
            <p:ph type="subTitle" idx="1"/>
          </p:nvPr>
        </p:nvSpPr>
        <p:spPr>
          <a:xfrm>
            <a:off x="1669367" y="3007297"/>
            <a:ext cx="2286000" cy="118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9" name="Google Shape;39;p5"/>
          <p:cNvSpPr txBox="1">
            <a:spLocks noGrp="1"/>
          </p:cNvSpPr>
          <p:nvPr>
            <p:ph type="subTitle" idx="2"/>
          </p:nvPr>
        </p:nvSpPr>
        <p:spPr>
          <a:xfrm>
            <a:off x="1669367" y="2557647"/>
            <a:ext cx="2286000" cy="39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40" name="Google Shape;40;p5"/>
          <p:cNvSpPr txBox="1">
            <a:spLocks noGrp="1"/>
          </p:cNvSpPr>
          <p:nvPr>
            <p:ph type="subTitle" idx="3"/>
          </p:nvPr>
        </p:nvSpPr>
        <p:spPr>
          <a:xfrm>
            <a:off x="5186717" y="3007297"/>
            <a:ext cx="2287800" cy="1187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1" name="Google Shape;41;p5"/>
          <p:cNvSpPr txBox="1">
            <a:spLocks noGrp="1"/>
          </p:cNvSpPr>
          <p:nvPr>
            <p:ph type="subTitle" idx="4"/>
          </p:nvPr>
        </p:nvSpPr>
        <p:spPr>
          <a:xfrm>
            <a:off x="5186717" y="2557647"/>
            <a:ext cx="2287800" cy="39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42" name="Google Shape;42;p5"/>
          <p:cNvSpPr txBox="1">
            <a:spLocks noGrp="1"/>
          </p:cNvSpPr>
          <p:nvPr>
            <p:ph type="subTitle" idx="5"/>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43" name="Google Shape;43;p5"/>
          <p:cNvSpPr txBox="1">
            <a:spLocks noGrp="1"/>
          </p:cNvSpPr>
          <p:nvPr>
            <p:ph type="subTitle" idx="6"/>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cxnSp>
        <p:nvCxnSpPr>
          <p:cNvPr id="44" name="Google Shape;44;p5"/>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45" name="Google Shape;45;p5"/>
          <p:cNvSpPr/>
          <p:nvPr/>
        </p:nvSpPr>
        <p:spPr>
          <a:xfrm>
            <a:off x="6614275" y="-1106550"/>
            <a:ext cx="1596600" cy="1596600"/>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53"/>
        <p:cNvGrpSpPr/>
        <p:nvPr/>
      </p:nvGrpSpPr>
      <p:grpSpPr>
        <a:xfrm>
          <a:off x="0" y="0"/>
          <a:ext cx="0" cy="0"/>
          <a:chOff x="0" y="0"/>
          <a:chExt cx="0" cy="0"/>
        </a:xfrm>
      </p:grpSpPr>
      <p:sp>
        <p:nvSpPr>
          <p:cNvPr id="54" name="Google Shape;54;p7"/>
          <p:cNvSpPr/>
          <p:nvPr/>
        </p:nvSpPr>
        <p:spPr>
          <a:xfrm rot="-1720358">
            <a:off x="-923271" y="-1116905"/>
            <a:ext cx="3728393" cy="3728393"/>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7"/>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cxnSp>
        <p:nvCxnSpPr>
          <p:cNvPr id="56" name="Google Shape;56;p7"/>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57" name="Google Shape;57;p7"/>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58" name="Google Shape;58;p7"/>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59" name="Google Shape;59;p7"/>
          <p:cNvSpPr txBox="1">
            <a:spLocks noGrp="1"/>
          </p:cNvSpPr>
          <p:nvPr>
            <p:ph type="title"/>
          </p:nvPr>
        </p:nvSpPr>
        <p:spPr>
          <a:xfrm>
            <a:off x="713075" y="539400"/>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0" name="Google Shape;60;p7"/>
          <p:cNvSpPr txBox="1">
            <a:spLocks noGrp="1"/>
          </p:cNvSpPr>
          <p:nvPr>
            <p:ph type="subTitle" idx="3"/>
          </p:nvPr>
        </p:nvSpPr>
        <p:spPr>
          <a:xfrm>
            <a:off x="713075" y="1746850"/>
            <a:ext cx="4155300" cy="211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9"/>
          <p:cNvSpPr/>
          <p:nvPr/>
        </p:nvSpPr>
        <p:spPr>
          <a:xfrm rot="-7618588">
            <a:off x="4834560" y="-1783655"/>
            <a:ext cx="5322309" cy="5322309"/>
          </a:xfrm>
          <a:prstGeom prst="ellipse">
            <a:avLst/>
          </a:prstGeom>
          <a:gradFill>
            <a:gsLst>
              <a:gs pos="0">
                <a:srgbClr val="FFFFFF">
                  <a:alpha val="0"/>
                  <a:alpha val="20540"/>
                </a:srgbClr>
              </a:gs>
              <a:gs pos="100000">
                <a:srgbClr val="CC527A">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9"/>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cxnSp>
        <p:nvCxnSpPr>
          <p:cNvPr id="71" name="Google Shape;71;p9"/>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72" name="Google Shape;72;p9"/>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73" name="Google Shape;73;p9"/>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74" name="Google Shape;74;p9"/>
          <p:cNvSpPr txBox="1">
            <a:spLocks noGrp="1"/>
          </p:cNvSpPr>
          <p:nvPr>
            <p:ph type="title"/>
          </p:nvPr>
        </p:nvSpPr>
        <p:spPr>
          <a:xfrm>
            <a:off x="2839350" y="1233242"/>
            <a:ext cx="3465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5" name="Google Shape;75;p9"/>
          <p:cNvSpPr txBox="1">
            <a:spLocks noGrp="1"/>
          </p:cNvSpPr>
          <p:nvPr>
            <p:ph type="subTitle" idx="3"/>
          </p:nvPr>
        </p:nvSpPr>
        <p:spPr>
          <a:xfrm>
            <a:off x="2839350" y="1924342"/>
            <a:ext cx="3465300" cy="144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 name="Google Shape;76;p9"/>
          <p:cNvSpPr/>
          <p:nvPr/>
        </p:nvSpPr>
        <p:spPr>
          <a:xfrm rot="-4596179">
            <a:off x="-1309904" y="2330426"/>
            <a:ext cx="1937010" cy="1937010"/>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BLANK_1">
    <p:bg>
      <p:bgPr>
        <a:blipFill>
          <a:blip r:embed="rId2">
            <a:alphaModFix/>
          </a:blip>
          <a:stretch>
            <a:fillRect/>
          </a:stretch>
        </a:blipFill>
        <a:effectLst/>
      </p:bgPr>
    </p:bg>
    <p:spTree>
      <p:nvGrpSpPr>
        <p:cNvPr id="1" name="Shape 94"/>
        <p:cNvGrpSpPr/>
        <p:nvPr/>
      </p:nvGrpSpPr>
      <p:grpSpPr>
        <a:xfrm>
          <a:off x="0" y="0"/>
          <a:ext cx="0" cy="0"/>
          <a:chOff x="0" y="0"/>
          <a:chExt cx="0" cy="0"/>
        </a:xfrm>
      </p:grpSpPr>
      <p:sp>
        <p:nvSpPr>
          <p:cNvPr id="95" name="Google Shape;95;p13"/>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
        <p:nvSpPr>
          <p:cNvPr id="96" name="Google Shape;96;p13"/>
          <p:cNvSpPr txBox="1">
            <a:spLocks noGrp="1"/>
          </p:cNvSpPr>
          <p:nvPr>
            <p:ph type="title"/>
          </p:nvPr>
        </p:nvSpPr>
        <p:spPr>
          <a:xfrm>
            <a:off x="743864" y="3002206"/>
            <a:ext cx="1801800" cy="544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97" name="Google Shape;97;p13"/>
          <p:cNvSpPr txBox="1">
            <a:spLocks noGrp="1"/>
          </p:cNvSpPr>
          <p:nvPr>
            <p:ph type="subTitle" idx="1"/>
          </p:nvPr>
        </p:nvSpPr>
        <p:spPr>
          <a:xfrm>
            <a:off x="743864" y="3608820"/>
            <a:ext cx="1801800" cy="544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13"/>
          <p:cNvSpPr txBox="1">
            <a:spLocks noGrp="1"/>
          </p:cNvSpPr>
          <p:nvPr>
            <p:ph type="title" idx="2" hasCustomPrompt="1"/>
          </p:nvPr>
        </p:nvSpPr>
        <p:spPr>
          <a:xfrm>
            <a:off x="1312814" y="2236611"/>
            <a:ext cx="663900" cy="45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99" name="Google Shape;99;p13"/>
          <p:cNvSpPr txBox="1">
            <a:spLocks noGrp="1"/>
          </p:cNvSpPr>
          <p:nvPr>
            <p:ph type="title" idx="3"/>
          </p:nvPr>
        </p:nvSpPr>
        <p:spPr>
          <a:xfrm>
            <a:off x="2693535" y="3002206"/>
            <a:ext cx="1801800" cy="544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00" name="Google Shape;100;p13"/>
          <p:cNvSpPr txBox="1">
            <a:spLocks noGrp="1"/>
          </p:cNvSpPr>
          <p:nvPr>
            <p:ph type="subTitle" idx="4"/>
          </p:nvPr>
        </p:nvSpPr>
        <p:spPr>
          <a:xfrm>
            <a:off x="2693535" y="3608820"/>
            <a:ext cx="1801800" cy="544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1" name="Google Shape;101;p13"/>
          <p:cNvSpPr txBox="1">
            <a:spLocks noGrp="1"/>
          </p:cNvSpPr>
          <p:nvPr>
            <p:ph type="title" idx="5" hasCustomPrompt="1"/>
          </p:nvPr>
        </p:nvSpPr>
        <p:spPr>
          <a:xfrm>
            <a:off x="3262485" y="2236761"/>
            <a:ext cx="663900" cy="45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102" name="Google Shape;102;p13"/>
          <p:cNvSpPr txBox="1">
            <a:spLocks noGrp="1"/>
          </p:cNvSpPr>
          <p:nvPr>
            <p:ph type="title" idx="6"/>
          </p:nvPr>
        </p:nvSpPr>
        <p:spPr>
          <a:xfrm>
            <a:off x="4643207" y="3002206"/>
            <a:ext cx="1801800" cy="544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03" name="Google Shape;103;p13"/>
          <p:cNvSpPr txBox="1">
            <a:spLocks noGrp="1"/>
          </p:cNvSpPr>
          <p:nvPr>
            <p:ph type="subTitle" idx="7"/>
          </p:nvPr>
        </p:nvSpPr>
        <p:spPr>
          <a:xfrm>
            <a:off x="4643207" y="3608820"/>
            <a:ext cx="1801800" cy="544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4" name="Google Shape;104;p13"/>
          <p:cNvSpPr txBox="1">
            <a:spLocks noGrp="1"/>
          </p:cNvSpPr>
          <p:nvPr>
            <p:ph type="title" idx="8" hasCustomPrompt="1"/>
          </p:nvPr>
        </p:nvSpPr>
        <p:spPr>
          <a:xfrm>
            <a:off x="5212157" y="2236611"/>
            <a:ext cx="663900" cy="45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105" name="Google Shape;105;p13"/>
          <p:cNvSpPr txBox="1">
            <a:spLocks noGrp="1"/>
          </p:cNvSpPr>
          <p:nvPr>
            <p:ph type="title" idx="9"/>
          </p:nvPr>
        </p:nvSpPr>
        <p:spPr>
          <a:xfrm>
            <a:off x="6592879" y="3002206"/>
            <a:ext cx="1801800" cy="544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06" name="Google Shape;106;p13"/>
          <p:cNvSpPr txBox="1">
            <a:spLocks noGrp="1"/>
          </p:cNvSpPr>
          <p:nvPr>
            <p:ph type="subTitle" idx="13"/>
          </p:nvPr>
        </p:nvSpPr>
        <p:spPr>
          <a:xfrm>
            <a:off x="6592879" y="3608820"/>
            <a:ext cx="1801800" cy="544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 name="Google Shape;107;p13"/>
          <p:cNvSpPr txBox="1">
            <a:spLocks noGrp="1"/>
          </p:cNvSpPr>
          <p:nvPr>
            <p:ph type="title" idx="14" hasCustomPrompt="1"/>
          </p:nvPr>
        </p:nvSpPr>
        <p:spPr>
          <a:xfrm>
            <a:off x="7161829" y="2236611"/>
            <a:ext cx="663900" cy="4575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2500">
                <a:solidFill>
                  <a:schemeClr val="accent2"/>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r>
              <a:t>xx%</a:t>
            </a:r>
          </a:p>
        </p:txBody>
      </p:sp>
      <p:sp>
        <p:nvSpPr>
          <p:cNvPr id="108" name="Google Shape;108;p13"/>
          <p:cNvSpPr txBox="1">
            <a:spLocks noGrp="1"/>
          </p:cNvSpPr>
          <p:nvPr>
            <p:ph type="title" idx="15"/>
          </p:nvPr>
        </p:nvSpPr>
        <p:spPr>
          <a:xfrm>
            <a:off x="713075" y="539400"/>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09" name="Google Shape;109;p13"/>
          <p:cNvSpPr txBox="1">
            <a:spLocks noGrp="1"/>
          </p:cNvSpPr>
          <p:nvPr>
            <p:ph type="subTitle" idx="16"/>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0" name="Google Shape;110;p13"/>
          <p:cNvSpPr txBox="1">
            <a:spLocks noGrp="1"/>
          </p:cNvSpPr>
          <p:nvPr>
            <p:ph type="subTitle" idx="17"/>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cxnSp>
        <p:nvCxnSpPr>
          <p:cNvPr id="111" name="Google Shape;111;p13"/>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112" name="Google Shape;112;p13"/>
          <p:cNvSpPr/>
          <p:nvPr/>
        </p:nvSpPr>
        <p:spPr>
          <a:xfrm rot="-5400000" flipH="1">
            <a:off x="8505743" y="2254808"/>
            <a:ext cx="2203200" cy="2203200"/>
          </a:xfrm>
          <a:prstGeom prst="ellipse">
            <a:avLst/>
          </a:prstGeom>
          <a:gradFill>
            <a:gsLst>
              <a:gs pos="0">
                <a:srgbClr val="FFFFFF">
                  <a:alpha val="0"/>
                  <a:alpha val="20540"/>
                </a:srgbClr>
              </a:gs>
              <a:gs pos="100000">
                <a:srgbClr val="CC527A">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BLANK_8">
    <p:bg>
      <p:bgPr>
        <a:blipFill>
          <a:blip r:embed="rId2">
            <a:alphaModFix/>
          </a:blip>
          <a:stretch>
            <a:fillRect/>
          </a:stretch>
        </a:blipFill>
        <a:effectLst/>
      </p:bgPr>
    </p:bg>
    <p:spTree>
      <p:nvGrpSpPr>
        <p:cNvPr id="1" name="Shape 113"/>
        <p:cNvGrpSpPr/>
        <p:nvPr/>
      </p:nvGrpSpPr>
      <p:grpSpPr>
        <a:xfrm>
          <a:off x="0" y="0"/>
          <a:ext cx="0" cy="0"/>
          <a:chOff x="0" y="0"/>
          <a:chExt cx="0" cy="0"/>
        </a:xfrm>
      </p:grpSpPr>
      <p:sp>
        <p:nvSpPr>
          <p:cNvPr id="114" name="Google Shape;114;p14"/>
          <p:cNvSpPr/>
          <p:nvPr/>
        </p:nvSpPr>
        <p:spPr>
          <a:xfrm rot="-7618588">
            <a:off x="4834560" y="-1783655"/>
            <a:ext cx="5322309" cy="5322309"/>
          </a:xfrm>
          <a:prstGeom prst="ellipse">
            <a:avLst/>
          </a:prstGeom>
          <a:gradFill>
            <a:gsLst>
              <a:gs pos="0">
                <a:srgbClr val="FFFFFF">
                  <a:alpha val="0"/>
                  <a:alpha val="20540"/>
                </a:srgbClr>
              </a:gs>
              <a:gs pos="100000">
                <a:srgbClr val="CC527A">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4"/>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cxnSp>
        <p:nvCxnSpPr>
          <p:cNvPr id="116" name="Google Shape;116;p14"/>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117" name="Google Shape;117;p14"/>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18" name="Google Shape;118;p14"/>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119" name="Google Shape;119;p14"/>
          <p:cNvSpPr txBox="1">
            <a:spLocks noGrp="1"/>
          </p:cNvSpPr>
          <p:nvPr>
            <p:ph type="title"/>
          </p:nvPr>
        </p:nvSpPr>
        <p:spPr>
          <a:xfrm>
            <a:off x="2905609" y="3153844"/>
            <a:ext cx="3330000" cy="3741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200"/>
              <a:buNone/>
              <a:defRPr sz="2200"/>
            </a:lvl1pPr>
            <a:lvl2pPr lvl="1" algn="ctr" rtl="0">
              <a:spcBef>
                <a:spcPts val="0"/>
              </a:spcBef>
              <a:spcAft>
                <a:spcPts val="0"/>
              </a:spcAft>
              <a:buSzPts val="2200"/>
              <a:buNone/>
              <a:defRPr sz="2200"/>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120" name="Google Shape;120;p14"/>
          <p:cNvSpPr txBox="1">
            <a:spLocks noGrp="1"/>
          </p:cNvSpPr>
          <p:nvPr>
            <p:ph type="subTitle" idx="3"/>
          </p:nvPr>
        </p:nvSpPr>
        <p:spPr>
          <a:xfrm>
            <a:off x="1973550" y="1015439"/>
            <a:ext cx="5196900" cy="178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None/>
              <a:defRPr sz="2600"/>
            </a:lvl1pPr>
            <a:lvl2pPr lvl="1" algn="ctr" rtl="0">
              <a:lnSpc>
                <a:spcPct val="100000"/>
              </a:lnSpc>
              <a:spcBef>
                <a:spcPts val="0"/>
              </a:spcBef>
              <a:spcAft>
                <a:spcPts val="0"/>
              </a:spcAft>
              <a:buSzPts val="2400"/>
              <a:buNone/>
              <a:defRPr sz="2400"/>
            </a:lvl2pPr>
            <a:lvl3pPr lvl="2" algn="ctr" rtl="0">
              <a:lnSpc>
                <a:spcPct val="100000"/>
              </a:lnSpc>
              <a:spcBef>
                <a:spcPts val="0"/>
              </a:spcBef>
              <a:spcAft>
                <a:spcPts val="0"/>
              </a:spcAft>
              <a:buSzPts val="2400"/>
              <a:buNone/>
              <a:defRPr sz="2400"/>
            </a:lvl3pPr>
            <a:lvl4pPr lvl="3" algn="ctr" rtl="0">
              <a:lnSpc>
                <a:spcPct val="100000"/>
              </a:lnSpc>
              <a:spcBef>
                <a:spcPts val="0"/>
              </a:spcBef>
              <a:spcAft>
                <a:spcPts val="0"/>
              </a:spcAft>
              <a:buSzPts val="2400"/>
              <a:buNone/>
              <a:defRPr sz="2400"/>
            </a:lvl4pPr>
            <a:lvl5pPr lvl="4" algn="ctr" rtl="0">
              <a:lnSpc>
                <a:spcPct val="100000"/>
              </a:lnSpc>
              <a:spcBef>
                <a:spcPts val="0"/>
              </a:spcBef>
              <a:spcAft>
                <a:spcPts val="0"/>
              </a:spcAft>
              <a:buSzPts val="2400"/>
              <a:buNone/>
              <a:defRPr sz="2400"/>
            </a:lvl5pPr>
            <a:lvl6pPr lvl="5" algn="ctr" rtl="0">
              <a:lnSpc>
                <a:spcPct val="100000"/>
              </a:lnSpc>
              <a:spcBef>
                <a:spcPts val="0"/>
              </a:spcBef>
              <a:spcAft>
                <a:spcPts val="0"/>
              </a:spcAft>
              <a:buSzPts val="2400"/>
              <a:buNone/>
              <a:defRPr sz="2400"/>
            </a:lvl6pPr>
            <a:lvl7pPr lvl="6" algn="ctr" rtl="0">
              <a:lnSpc>
                <a:spcPct val="100000"/>
              </a:lnSpc>
              <a:spcBef>
                <a:spcPts val="0"/>
              </a:spcBef>
              <a:spcAft>
                <a:spcPts val="0"/>
              </a:spcAft>
              <a:buSzPts val="2400"/>
              <a:buNone/>
              <a:defRPr sz="2400"/>
            </a:lvl7pPr>
            <a:lvl8pPr lvl="7" algn="ctr" rtl="0">
              <a:lnSpc>
                <a:spcPct val="100000"/>
              </a:lnSpc>
              <a:spcBef>
                <a:spcPts val="0"/>
              </a:spcBef>
              <a:spcAft>
                <a:spcPts val="0"/>
              </a:spcAft>
              <a:buSzPts val="2400"/>
              <a:buNone/>
              <a:defRPr sz="2400"/>
            </a:lvl8pPr>
            <a:lvl9pPr lvl="8" algn="ctr"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hree columns">
  <p:cSld name="BLANK_7">
    <p:bg>
      <p:bgPr>
        <a:blipFill>
          <a:blip r:embed="rId2">
            <a:alphaModFix/>
          </a:blip>
          <a:stretch>
            <a:fillRect/>
          </a:stretch>
        </a:blipFill>
        <a:effectLst/>
      </p:bgPr>
    </p:bg>
    <p:spTree>
      <p:nvGrpSpPr>
        <p:cNvPr id="1" name="Shape 152"/>
        <p:cNvGrpSpPr/>
        <p:nvPr/>
      </p:nvGrpSpPr>
      <p:grpSpPr>
        <a:xfrm>
          <a:off x="0" y="0"/>
          <a:ext cx="0" cy="0"/>
          <a:chOff x="0" y="0"/>
          <a:chExt cx="0" cy="0"/>
        </a:xfrm>
      </p:grpSpPr>
      <p:sp>
        <p:nvSpPr>
          <p:cNvPr id="153" name="Google Shape;153;p18"/>
          <p:cNvSpPr/>
          <p:nvPr/>
        </p:nvSpPr>
        <p:spPr>
          <a:xfrm rot="5400000">
            <a:off x="-1490132" y="2254808"/>
            <a:ext cx="2203200" cy="2203200"/>
          </a:xfrm>
          <a:prstGeom prst="ellipse">
            <a:avLst/>
          </a:prstGeom>
          <a:gradFill>
            <a:gsLst>
              <a:gs pos="0">
                <a:srgbClr val="FFFFFF">
                  <a:alpha val="0"/>
                  <a:alpha val="20540"/>
                </a:srgbClr>
              </a:gs>
              <a:gs pos="100000">
                <a:srgbClr val="CC527A">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8"/>
          <p:cNvSpPr/>
          <p:nvPr/>
        </p:nvSpPr>
        <p:spPr>
          <a:xfrm rot="-8880129">
            <a:off x="7060004" y="-912422"/>
            <a:ext cx="3144441" cy="3144441"/>
          </a:xfrm>
          <a:prstGeom prst="ellipse">
            <a:avLst/>
          </a:prstGeom>
          <a:gradFill>
            <a:gsLst>
              <a:gs pos="0">
                <a:srgbClr val="FFFFFF">
                  <a:alpha val="0"/>
                  <a:alpha val="20540"/>
                </a:srgbClr>
              </a:gs>
              <a:gs pos="100000">
                <a:srgbClr val="CC527A">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8"/>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cxnSp>
        <p:nvCxnSpPr>
          <p:cNvPr id="156" name="Google Shape;156;p18"/>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157" name="Google Shape;157;p18"/>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58" name="Google Shape;158;p18"/>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159" name="Google Shape;159;p18"/>
          <p:cNvSpPr txBox="1">
            <a:spLocks noGrp="1"/>
          </p:cNvSpPr>
          <p:nvPr>
            <p:ph type="title"/>
          </p:nvPr>
        </p:nvSpPr>
        <p:spPr>
          <a:xfrm>
            <a:off x="713075" y="539400"/>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160" name="Google Shape;160;p18"/>
          <p:cNvSpPr txBox="1">
            <a:spLocks noGrp="1"/>
          </p:cNvSpPr>
          <p:nvPr>
            <p:ph type="subTitle" idx="3"/>
          </p:nvPr>
        </p:nvSpPr>
        <p:spPr>
          <a:xfrm>
            <a:off x="807125" y="3825398"/>
            <a:ext cx="2145600" cy="523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1" name="Google Shape;161;p18"/>
          <p:cNvSpPr txBox="1">
            <a:spLocks noGrp="1"/>
          </p:cNvSpPr>
          <p:nvPr>
            <p:ph type="subTitle" idx="4"/>
          </p:nvPr>
        </p:nvSpPr>
        <p:spPr>
          <a:xfrm>
            <a:off x="807131" y="3375748"/>
            <a:ext cx="2145600" cy="39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62" name="Google Shape;162;p18"/>
          <p:cNvSpPr txBox="1">
            <a:spLocks noGrp="1"/>
          </p:cNvSpPr>
          <p:nvPr>
            <p:ph type="subTitle" idx="5"/>
          </p:nvPr>
        </p:nvSpPr>
        <p:spPr>
          <a:xfrm>
            <a:off x="3493925" y="3825398"/>
            <a:ext cx="2145600" cy="523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3" name="Google Shape;163;p18"/>
          <p:cNvSpPr txBox="1">
            <a:spLocks noGrp="1"/>
          </p:cNvSpPr>
          <p:nvPr>
            <p:ph type="subTitle" idx="6"/>
          </p:nvPr>
        </p:nvSpPr>
        <p:spPr>
          <a:xfrm>
            <a:off x="3493931" y="3375748"/>
            <a:ext cx="2145600" cy="39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164" name="Google Shape;164;p18"/>
          <p:cNvSpPr txBox="1">
            <a:spLocks noGrp="1"/>
          </p:cNvSpPr>
          <p:nvPr>
            <p:ph type="subTitle" idx="7"/>
          </p:nvPr>
        </p:nvSpPr>
        <p:spPr>
          <a:xfrm>
            <a:off x="6180725" y="3825398"/>
            <a:ext cx="2145600" cy="523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5" name="Google Shape;165;p18"/>
          <p:cNvSpPr txBox="1">
            <a:spLocks noGrp="1"/>
          </p:cNvSpPr>
          <p:nvPr>
            <p:ph type="subTitle" idx="8"/>
          </p:nvPr>
        </p:nvSpPr>
        <p:spPr>
          <a:xfrm>
            <a:off x="6180731" y="3375748"/>
            <a:ext cx="2145600" cy="393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1">
  <p:cSld name="BLANK_18">
    <p:bg>
      <p:bgPr>
        <a:blipFill>
          <a:blip r:embed="rId2">
            <a:alphaModFix/>
          </a:blip>
          <a:stretch>
            <a:fillRect/>
          </a:stretch>
        </a:blipFill>
        <a:effectLst/>
      </p:bgPr>
    </p:bg>
    <p:spTree>
      <p:nvGrpSpPr>
        <p:cNvPr id="1" name="Shape 166"/>
        <p:cNvGrpSpPr/>
        <p:nvPr/>
      </p:nvGrpSpPr>
      <p:grpSpPr>
        <a:xfrm>
          <a:off x="0" y="0"/>
          <a:ext cx="0" cy="0"/>
          <a:chOff x="0" y="0"/>
          <a:chExt cx="0" cy="0"/>
        </a:xfrm>
      </p:grpSpPr>
      <p:sp>
        <p:nvSpPr>
          <p:cNvPr id="167" name="Google Shape;167;p19"/>
          <p:cNvSpPr/>
          <p:nvPr/>
        </p:nvSpPr>
        <p:spPr>
          <a:xfrm rot="-2161599" flipH="1">
            <a:off x="-1871217" y="-1507659"/>
            <a:ext cx="3498019" cy="3497842"/>
          </a:xfrm>
          <a:prstGeom prst="ellipse">
            <a:avLst/>
          </a:prstGeom>
          <a:gradFill>
            <a:gsLst>
              <a:gs pos="0">
                <a:schemeClr val="accent2">
                  <a:alpha val="20540"/>
                </a:schemeClr>
              </a:gs>
              <a:gs pos="100000">
                <a:srgbClr val="737373">
                  <a:alpha val="0"/>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9"/>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cxnSp>
        <p:nvCxnSpPr>
          <p:cNvPr id="169" name="Google Shape;169;p19"/>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170" name="Google Shape;170;p19"/>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171" name="Google Shape;171;p19"/>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172" name="Google Shape;172;p19"/>
          <p:cNvSpPr txBox="1">
            <a:spLocks noGrp="1"/>
          </p:cNvSpPr>
          <p:nvPr>
            <p:ph type="subTitle" idx="3"/>
          </p:nvPr>
        </p:nvSpPr>
        <p:spPr>
          <a:xfrm>
            <a:off x="5220200" y="1803304"/>
            <a:ext cx="3056400" cy="49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3" name="Google Shape;173;p19"/>
          <p:cNvSpPr txBox="1">
            <a:spLocks noGrp="1"/>
          </p:cNvSpPr>
          <p:nvPr>
            <p:ph type="title"/>
          </p:nvPr>
        </p:nvSpPr>
        <p:spPr>
          <a:xfrm>
            <a:off x="5220200" y="1401875"/>
            <a:ext cx="16242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74" name="Google Shape;174;p19"/>
          <p:cNvSpPr txBox="1">
            <a:spLocks noGrp="1"/>
          </p:cNvSpPr>
          <p:nvPr>
            <p:ph type="title" idx="4" hasCustomPrompt="1"/>
          </p:nvPr>
        </p:nvSpPr>
        <p:spPr>
          <a:xfrm>
            <a:off x="4277325" y="1401856"/>
            <a:ext cx="807000" cy="49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r>
              <a:t>xx%</a:t>
            </a:r>
          </a:p>
        </p:txBody>
      </p:sp>
      <p:sp>
        <p:nvSpPr>
          <p:cNvPr id="175" name="Google Shape;175;p19"/>
          <p:cNvSpPr txBox="1">
            <a:spLocks noGrp="1"/>
          </p:cNvSpPr>
          <p:nvPr>
            <p:ph type="subTitle" idx="5"/>
          </p:nvPr>
        </p:nvSpPr>
        <p:spPr>
          <a:xfrm>
            <a:off x="5220200" y="2853058"/>
            <a:ext cx="3056400" cy="49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6" name="Google Shape;176;p19"/>
          <p:cNvSpPr txBox="1">
            <a:spLocks noGrp="1"/>
          </p:cNvSpPr>
          <p:nvPr>
            <p:ph type="title" idx="6"/>
          </p:nvPr>
        </p:nvSpPr>
        <p:spPr>
          <a:xfrm>
            <a:off x="5220200" y="2451627"/>
            <a:ext cx="16242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77" name="Google Shape;177;p19"/>
          <p:cNvSpPr txBox="1">
            <a:spLocks noGrp="1"/>
          </p:cNvSpPr>
          <p:nvPr>
            <p:ph type="title" idx="7" hasCustomPrompt="1"/>
          </p:nvPr>
        </p:nvSpPr>
        <p:spPr>
          <a:xfrm>
            <a:off x="4277325" y="2451610"/>
            <a:ext cx="807000" cy="49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solidFill>
                  <a:schemeClr val="accent2"/>
                </a:solidFill>
              </a:defRPr>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r>
              <a:t>xx%</a:t>
            </a:r>
          </a:p>
        </p:txBody>
      </p:sp>
      <p:sp>
        <p:nvSpPr>
          <p:cNvPr id="178" name="Google Shape;178;p19"/>
          <p:cNvSpPr txBox="1">
            <a:spLocks noGrp="1"/>
          </p:cNvSpPr>
          <p:nvPr>
            <p:ph type="subTitle" idx="8"/>
          </p:nvPr>
        </p:nvSpPr>
        <p:spPr>
          <a:xfrm>
            <a:off x="5220200" y="3902813"/>
            <a:ext cx="3056400" cy="498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9" name="Google Shape;179;p19"/>
          <p:cNvSpPr txBox="1">
            <a:spLocks noGrp="1"/>
          </p:cNvSpPr>
          <p:nvPr>
            <p:ph type="title" idx="9"/>
          </p:nvPr>
        </p:nvSpPr>
        <p:spPr>
          <a:xfrm>
            <a:off x="5220200" y="3501376"/>
            <a:ext cx="16242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2000"/>
              <a:buNone/>
              <a:defRPr sz="18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endParaRPr/>
          </a:p>
        </p:txBody>
      </p:sp>
      <p:sp>
        <p:nvSpPr>
          <p:cNvPr id="180" name="Google Shape;180;p19"/>
          <p:cNvSpPr txBox="1">
            <a:spLocks noGrp="1"/>
          </p:cNvSpPr>
          <p:nvPr>
            <p:ph type="title" idx="13" hasCustomPrompt="1"/>
          </p:nvPr>
        </p:nvSpPr>
        <p:spPr>
          <a:xfrm>
            <a:off x="4277325" y="3501365"/>
            <a:ext cx="807000" cy="49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000"/>
              <a:buNone/>
              <a:defRPr sz="2500"/>
            </a:lvl1pPr>
            <a:lvl2pPr lvl="1" algn="ctr" rtl="0">
              <a:spcBef>
                <a:spcPts val="0"/>
              </a:spcBef>
              <a:spcAft>
                <a:spcPts val="0"/>
              </a:spcAft>
              <a:buSzPts val="2000"/>
              <a:buNone/>
              <a:defRPr sz="2000"/>
            </a:lvl2pPr>
            <a:lvl3pPr lvl="2" algn="ctr" rtl="0">
              <a:spcBef>
                <a:spcPts val="0"/>
              </a:spcBef>
              <a:spcAft>
                <a:spcPts val="0"/>
              </a:spcAft>
              <a:buSzPts val="2000"/>
              <a:buNone/>
              <a:defRPr sz="2000"/>
            </a:lvl3pPr>
            <a:lvl4pPr lvl="3" algn="ctr" rtl="0">
              <a:spcBef>
                <a:spcPts val="0"/>
              </a:spcBef>
              <a:spcAft>
                <a:spcPts val="0"/>
              </a:spcAft>
              <a:buSzPts val="2000"/>
              <a:buNone/>
              <a:defRPr sz="2000"/>
            </a:lvl4pPr>
            <a:lvl5pPr lvl="4" algn="ctr" rtl="0">
              <a:spcBef>
                <a:spcPts val="0"/>
              </a:spcBef>
              <a:spcAft>
                <a:spcPts val="0"/>
              </a:spcAft>
              <a:buSzPts val="2000"/>
              <a:buNone/>
              <a:defRPr sz="2000"/>
            </a:lvl5pPr>
            <a:lvl6pPr lvl="5" algn="ctr" rtl="0">
              <a:spcBef>
                <a:spcPts val="0"/>
              </a:spcBef>
              <a:spcAft>
                <a:spcPts val="0"/>
              </a:spcAft>
              <a:buSzPts val="2000"/>
              <a:buNone/>
              <a:defRPr sz="2000"/>
            </a:lvl6pPr>
            <a:lvl7pPr lvl="6" algn="ctr" rtl="0">
              <a:spcBef>
                <a:spcPts val="0"/>
              </a:spcBef>
              <a:spcAft>
                <a:spcPts val="0"/>
              </a:spcAft>
              <a:buSzPts val="2000"/>
              <a:buNone/>
              <a:defRPr sz="2000"/>
            </a:lvl7pPr>
            <a:lvl8pPr lvl="7" algn="ctr" rtl="0">
              <a:spcBef>
                <a:spcPts val="0"/>
              </a:spcBef>
              <a:spcAft>
                <a:spcPts val="0"/>
              </a:spcAft>
              <a:buSzPts val="2000"/>
              <a:buNone/>
              <a:defRPr sz="2000"/>
            </a:lvl8pPr>
            <a:lvl9pPr lvl="8" algn="ctr" rtl="0">
              <a:spcBef>
                <a:spcPts val="0"/>
              </a:spcBef>
              <a:spcAft>
                <a:spcPts val="0"/>
              </a:spcAft>
              <a:buSzPts val="2000"/>
              <a:buNone/>
              <a:defRPr sz="2000"/>
            </a:lvl9pPr>
          </a:lstStyle>
          <a:p>
            <a:r>
              <a:t>xx%</a:t>
            </a:r>
          </a:p>
        </p:txBody>
      </p:sp>
      <p:sp>
        <p:nvSpPr>
          <p:cNvPr id="181" name="Google Shape;181;p19"/>
          <p:cNvSpPr txBox="1">
            <a:spLocks noGrp="1"/>
          </p:cNvSpPr>
          <p:nvPr>
            <p:ph type="title" idx="14"/>
          </p:nvPr>
        </p:nvSpPr>
        <p:spPr>
          <a:xfrm>
            <a:off x="713075" y="539400"/>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six columns">
  <p:cSld name="BLANK_5">
    <p:bg>
      <p:bgPr>
        <a:blipFill>
          <a:blip r:embed="rId2">
            <a:alphaModFix/>
          </a:blip>
          <a:stretch>
            <a:fillRect/>
          </a:stretch>
        </a:blipFill>
        <a:effectLst/>
      </p:bgPr>
    </p:bg>
    <p:spTree>
      <p:nvGrpSpPr>
        <p:cNvPr id="1" name="Shape 197"/>
        <p:cNvGrpSpPr/>
        <p:nvPr/>
      </p:nvGrpSpPr>
      <p:grpSpPr>
        <a:xfrm>
          <a:off x="0" y="0"/>
          <a:ext cx="0" cy="0"/>
          <a:chOff x="0" y="0"/>
          <a:chExt cx="0" cy="0"/>
        </a:xfrm>
      </p:grpSpPr>
      <p:sp>
        <p:nvSpPr>
          <p:cNvPr id="198" name="Google Shape;198;p21"/>
          <p:cNvSpPr/>
          <p:nvPr/>
        </p:nvSpPr>
        <p:spPr>
          <a:xfrm rot="-8590643" flipH="1">
            <a:off x="7212872" y="-1096737"/>
            <a:ext cx="3272101" cy="3272101"/>
          </a:xfrm>
          <a:prstGeom prst="ellipse">
            <a:avLst/>
          </a:prstGeom>
          <a:gradFill>
            <a:gsLst>
              <a:gs pos="0">
                <a:srgbClr val="FFFFFF">
                  <a:alpha val="0"/>
                  <a:alpha val="20540"/>
                </a:srgbClr>
              </a:gs>
              <a:gs pos="100000">
                <a:srgbClr val="CC527A">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1"/>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cxnSp>
        <p:nvCxnSpPr>
          <p:cNvPr id="200" name="Google Shape;200;p21"/>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201" name="Google Shape;201;p21"/>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02" name="Google Shape;202;p21"/>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203" name="Google Shape;203;p21"/>
          <p:cNvSpPr txBox="1">
            <a:spLocks noGrp="1"/>
          </p:cNvSpPr>
          <p:nvPr>
            <p:ph type="title"/>
          </p:nvPr>
        </p:nvSpPr>
        <p:spPr>
          <a:xfrm>
            <a:off x="713075" y="539400"/>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04" name="Google Shape;204;p21"/>
          <p:cNvSpPr txBox="1">
            <a:spLocks noGrp="1"/>
          </p:cNvSpPr>
          <p:nvPr>
            <p:ph type="subTitle" idx="3"/>
          </p:nvPr>
        </p:nvSpPr>
        <p:spPr>
          <a:xfrm>
            <a:off x="873625" y="2331862"/>
            <a:ext cx="2190300" cy="507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5" name="Google Shape;205;p21"/>
          <p:cNvSpPr txBox="1">
            <a:spLocks noGrp="1"/>
          </p:cNvSpPr>
          <p:nvPr>
            <p:ph type="subTitle" idx="4"/>
          </p:nvPr>
        </p:nvSpPr>
        <p:spPr>
          <a:xfrm>
            <a:off x="873625" y="1989475"/>
            <a:ext cx="2190300" cy="34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06" name="Google Shape;206;p21"/>
          <p:cNvSpPr txBox="1">
            <a:spLocks noGrp="1"/>
          </p:cNvSpPr>
          <p:nvPr>
            <p:ph type="subTitle" idx="5"/>
          </p:nvPr>
        </p:nvSpPr>
        <p:spPr>
          <a:xfrm>
            <a:off x="3479978" y="2331862"/>
            <a:ext cx="2190300" cy="507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7" name="Google Shape;207;p21"/>
          <p:cNvSpPr txBox="1">
            <a:spLocks noGrp="1"/>
          </p:cNvSpPr>
          <p:nvPr>
            <p:ph type="subTitle" idx="6"/>
          </p:nvPr>
        </p:nvSpPr>
        <p:spPr>
          <a:xfrm>
            <a:off x="3479978" y="1989475"/>
            <a:ext cx="2190300" cy="34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08" name="Google Shape;208;p21"/>
          <p:cNvSpPr txBox="1">
            <a:spLocks noGrp="1"/>
          </p:cNvSpPr>
          <p:nvPr>
            <p:ph type="subTitle" idx="7"/>
          </p:nvPr>
        </p:nvSpPr>
        <p:spPr>
          <a:xfrm>
            <a:off x="6086325" y="2331862"/>
            <a:ext cx="2190300" cy="507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9" name="Google Shape;209;p21"/>
          <p:cNvSpPr txBox="1">
            <a:spLocks noGrp="1"/>
          </p:cNvSpPr>
          <p:nvPr>
            <p:ph type="subTitle" idx="8"/>
          </p:nvPr>
        </p:nvSpPr>
        <p:spPr>
          <a:xfrm>
            <a:off x="6086325" y="1989475"/>
            <a:ext cx="2190300" cy="34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10" name="Google Shape;210;p21"/>
          <p:cNvSpPr txBox="1">
            <a:spLocks noGrp="1"/>
          </p:cNvSpPr>
          <p:nvPr>
            <p:ph type="subTitle" idx="9"/>
          </p:nvPr>
        </p:nvSpPr>
        <p:spPr>
          <a:xfrm>
            <a:off x="873625" y="3946838"/>
            <a:ext cx="2190300" cy="507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1" name="Google Shape;211;p21"/>
          <p:cNvSpPr txBox="1">
            <a:spLocks noGrp="1"/>
          </p:cNvSpPr>
          <p:nvPr>
            <p:ph type="subTitle" idx="13"/>
          </p:nvPr>
        </p:nvSpPr>
        <p:spPr>
          <a:xfrm>
            <a:off x="873625" y="3604499"/>
            <a:ext cx="2190300" cy="34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12" name="Google Shape;212;p21"/>
          <p:cNvSpPr txBox="1">
            <a:spLocks noGrp="1"/>
          </p:cNvSpPr>
          <p:nvPr>
            <p:ph type="subTitle" idx="14"/>
          </p:nvPr>
        </p:nvSpPr>
        <p:spPr>
          <a:xfrm>
            <a:off x="3479978" y="3946838"/>
            <a:ext cx="2190300" cy="507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3" name="Google Shape;213;p21"/>
          <p:cNvSpPr txBox="1">
            <a:spLocks noGrp="1"/>
          </p:cNvSpPr>
          <p:nvPr>
            <p:ph type="subTitle" idx="15"/>
          </p:nvPr>
        </p:nvSpPr>
        <p:spPr>
          <a:xfrm>
            <a:off x="3479978" y="3604499"/>
            <a:ext cx="2190300" cy="34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214" name="Google Shape;214;p21"/>
          <p:cNvSpPr txBox="1">
            <a:spLocks noGrp="1"/>
          </p:cNvSpPr>
          <p:nvPr>
            <p:ph type="subTitle" idx="16"/>
          </p:nvPr>
        </p:nvSpPr>
        <p:spPr>
          <a:xfrm>
            <a:off x="6086325" y="3946838"/>
            <a:ext cx="2190300" cy="507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5" name="Google Shape;215;p21"/>
          <p:cNvSpPr txBox="1">
            <a:spLocks noGrp="1"/>
          </p:cNvSpPr>
          <p:nvPr>
            <p:ph type="subTitle" idx="17"/>
          </p:nvPr>
        </p:nvSpPr>
        <p:spPr>
          <a:xfrm>
            <a:off x="6086325" y="3604499"/>
            <a:ext cx="2190300" cy="34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800">
                <a:latin typeface="Poppins SemiBold"/>
                <a:ea typeface="Poppins SemiBold"/>
                <a:cs typeface="Poppins SemiBold"/>
                <a:sym typeface="Poppins SemiBold"/>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BLANK_9">
    <p:bg>
      <p:bgPr>
        <a:blipFill>
          <a:blip r:embed="rId2">
            <a:alphaModFix/>
          </a:blip>
          <a:stretch>
            <a:fillRect/>
          </a:stretch>
        </a:blipFill>
        <a:effectLst/>
      </p:bgPr>
    </p:bg>
    <p:spTree>
      <p:nvGrpSpPr>
        <p:cNvPr id="1" name="Shape 228"/>
        <p:cNvGrpSpPr/>
        <p:nvPr/>
      </p:nvGrpSpPr>
      <p:grpSpPr>
        <a:xfrm>
          <a:off x="0" y="0"/>
          <a:ext cx="0" cy="0"/>
          <a:chOff x="0" y="0"/>
          <a:chExt cx="0" cy="0"/>
        </a:xfrm>
      </p:grpSpPr>
      <p:sp>
        <p:nvSpPr>
          <p:cNvPr id="229" name="Google Shape;229;p23"/>
          <p:cNvSpPr/>
          <p:nvPr/>
        </p:nvSpPr>
        <p:spPr>
          <a:xfrm rot="-7618588">
            <a:off x="4834560" y="-1783655"/>
            <a:ext cx="5322309" cy="5322309"/>
          </a:xfrm>
          <a:prstGeom prst="ellipse">
            <a:avLst/>
          </a:prstGeom>
          <a:gradFill>
            <a:gsLst>
              <a:gs pos="0">
                <a:srgbClr val="FFFFFF">
                  <a:alpha val="0"/>
                  <a:alpha val="20540"/>
                </a:srgbClr>
              </a:gs>
              <a:gs pos="100000">
                <a:srgbClr val="CC527A">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3"/>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cxnSp>
        <p:nvCxnSpPr>
          <p:cNvPr id="231" name="Google Shape;231;p23"/>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232" name="Google Shape;232;p23"/>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33" name="Google Shape;233;p23"/>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234" name="Google Shape;234;p23"/>
          <p:cNvSpPr txBox="1">
            <a:spLocks noGrp="1"/>
          </p:cNvSpPr>
          <p:nvPr>
            <p:ph type="title"/>
          </p:nvPr>
        </p:nvSpPr>
        <p:spPr>
          <a:xfrm>
            <a:off x="5043426" y="1371816"/>
            <a:ext cx="27159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35" name="Google Shape;235;p23"/>
          <p:cNvSpPr txBox="1">
            <a:spLocks noGrp="1"/>
          </p:cNvSpPr>
          <p:nvPr>
            <p:ph type="subTitle" idx="3"/>
          </p:nvPr>
        </p:nvSpPr>
        <p:spPr>
          <a:xfrm>
            <a:off x="5043425" y="2062975"/>
            <a:ext cx="2715900" cy="1170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BLANK_10">
    <p:bg>
      <p:bgPr>
        <a:blipFill>
          <a:blip r:embed="rId2">
            <a:alphaModFix/>
          </a:blip>
          <a:stretch>
            <a:fillRect/>
          </a:stretch>
        </a:blipFill>
        <a:effectLst/>
      </p:bgPr>
    </p:bg>
    <p:spTree>
      <p:nvGrpSpPr>
        <p:cNvPr id="1" name="Shape 236"/>
        <p:cNvGrpSpPr/>
        <p:nvPr/>
      </p:nvGrpSpPr>
      <p:grpSpPr>
        <a:xfrm>
          <a:off x="0" y="0"/>
          <a:ext cx="0" cy="0"/>
          <a:chOff x="0" y="0"/>
          <a:chExt cx="0" cy="0"/>
        </a:xfrm>
      </p:grpSpPr>
      <p:sp>
        <p:nvSpPr>
          <p:cNvPr id="237" name="Google Shape;237;p24"/>
          <p:cNvSpPr/>
          <p:nvPr/>
        </p:nvSpPr>
        <p:spPr>
          <a:xfrm rot="-1720358">
            <a:off x="-795996" y="-869105"/>
            <a:ext cx="3728393" cy="3728393"/>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4"/>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cxnSp>
        <p:nvCxnSpPr>
          <p:cNvPr id="239" name="Google Shape;239;p24"/>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240" name="Google Shape;240;p24"/>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41" name="Google Shape;241;p24"/>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242" name="Google Shape;242;p24"/>
          <p:cNvSpPr txBox="1">
            <a:spLocks noGrp="1"/>
          </p:cNvSpPr>
          <p:nvPr>
            <p:ph type="title"/>
          </p:nvPr>
        </p:nvSpPr>
        <p:spPr>
          <a:xfrm>
            <a:off x="1154210" y="1372984"/>
            <a:ext cx="2698200" cy="5760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43" name="Google Shape;243;p24"/>
          <p:cNvSpPr txBox="1">
            <a:spLocks noGrp="1"/>
          </p:cNvSpPr>
          <p:nvPr>
            <p:ph type="subTitle" idx="3"/>
          </p:nvPr>
        </p:nvSpPr>
        <p:spPr>
          <a:xfrm>
            <a:off x="1154207" y="2061834"/>
            <a:ext cx="2698200" cy="11703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3">
  <p:cSld name="BLANK_16">
    <p:bg>
      <p:bgPr>
        <a:blipFill>
          <a:blip r:embed="rId2">
            <a:alphaModFix/>
          </a:blip>
          <a:stretch>
            <a:fillRect/>
          </a:stretch>
        </a:blipFill>
        <a:effectLst/>
      </p:bgPr>
    </p:bg>
    <p:spTree>
      <p:nvGrpSpPr>
        <p:cNvPr id="1" name="Shape 244"/>
        <p:cNvGrpSpPr/>
        <p:nvPr/>
      </p:nvGrpSpPr>
      <p:grpSpPr>
        <a:xfrm>
          <a:off x="0" y="0"/>
          <a:ext cx="0" cy="0"/>
          <a:chOff x="0" y="0"/>
          <a:chExt cx="0" cy="0"/>
        </a:xfrm>
      </p:grpSpPr>
      <p:sp>
        <p:nvSpPr>
          <p:cNvPr id="245" name="Google Shape;245;p25"/>
          <p:cNvSpPr/>
          <p:nvPr/>
        </p:nvSpPr>
        <p:spPr>
          <a:xfrm rot="1720310" flipH="1">
            <a:off x="5434280" y="-1488977"/>
            <a:ext cx="4828341" cy="4828077"/>
          </a:xfrm>
          <a:prstGeom prst="ellipse">
            <a:avLst/>
          </a:prstGeom>
          <a:gradFill>
            <a:gsLst>
              <a:gs pos="0">
                <a:schemeClr val="accent2">
                  <a:alpha val="20540"/>
                </a:schemeClr>
              </a:gs>
              <a:gs pos="100000">
                <a:srgbClr val="737373">
                  <a:alpha val="0"/>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5"/>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cxnSp>
        <p:nvCxnSpPr>
          <p:cNvPr id="247" name="Google Shape;247;p25"/>
          <p:cNvCxnSpPr/>
          <p:nvPr/>
        </p:nvCxnSpPr>
        <p:spPr>
          <a:xfrm>
            <a:off x="711850" y="4610125"/>
            <a:ext cx="7720200" cy="0"/>
          </a:xfrm>
          <a:prstGeom prst="straightConnector1">
            <a:avLst/>
          </a:prstGeom>
          <a:noFill/>
          <a:ln w="9525" cap="flat" cmpd="sng">
            <a:solidFill>
              <a:schemeClr val="lt1"/>
            </a:solidFill>
            <a:prstDash val="solid"/>
            <a:round/>
            <a:headEnd type="none" w="med" len="med"/>
            <a:tailEnd type="none" w="med" len="med"/>
          </a:ln>
        </p:spPr>
      </p:cxnSp>
      <p:sp>
        <p:nvSpPr>
          <p:cNvPr id="248" name="Google Shape;248;p25"/>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249" name="Google Shape;249;p25"/>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None/>
              <a:defRPr sz="1000"/>
            </a:lvl1pPr>
            <a:lvl2pPr lvl="1" algn="r" rtl="0">
              <a:lnSpc>
                <a:spcPct val="100000"/>
              </a:lnSpc>
              <a:spcBef>
                <a:spcPts val="0"/>
              </a:spcBef>
              <a:spcAft>
                <a:spcPts val="0"/>
              </a:spcAft>
              <a:buSzPts val="1000"/>
              <a:buNone/>
              <a:defRPr sz="1000"/>
            </a:lvl2pPr>
            <a:lvl3pPr lvl="2" algn="r" rtl="0">
              <a:lnSpc>
                <a:spcPct val="100000"/>
              </a:lnSpc>
              <a:spcBef>
                <a:spcPts val="0"/>
              </a:spcBef>
              <a:spcAft>
                <a:spcPts val="0"/>
              </a:spcAft>
              <a:buSzPts val="1000"/>
              <a:buNone/>
              <a:defRPr sz="1000"/>
            </a:lvl3pPr>
            <a:lvl4pPr lvl="3" algn="r" rtl="0">
              <a:lnSpc>
                <a:spcPct val="100000"/>
              </a:lnSpc>
              <a:spcBef>
                <a:spcPts val="0"/>
              </a:spcBef>
              <a:spcAft>
                <a:spcPts val="0"/>
              </a:spcAft>
              <a:buSzPts val="1000"/>
              <a:buNone/>
              <a:defRPr sz="1000"/>
            </a:lvl4pPr>
            <a:lvl5pPr lvl="4" algn="r" rtl="0">
              <a:lnSpc>
                <a:spcPct val="100000"/>
              </a:lnSpc>
              <a:spcBef>
                <a:spcPts val="0"/>
              </a:spcBef>
              <a:spcAft>
                <a:spcPts val="0"/>
              </a:spcAft>
              <a:buSzPts val="1000"/>
              <a:buNone/>
              <a:defRPr sz="1000"/>
            </a:lvl5pPr>
            <a:lvl6pPr lvl="5" algn="r" rtl="0">
              <a:lnSpc>
                <a:spcPct val="100000"/>
              </a:lnSpc>
              <a:spcBef>
                <a:spcPts val="0"/>
              </a:spcBef>
              <a:spcAft>
                <a:spcPts val="0"/>
              </a:spcAft>
              <a:buSzPts val="1000"/>
              <a:buNone/>
              <a:defRPr sz="1000"/>
            </a:lvl6pPr>
            <a:lvl7pPr lvl="6" algn="r" rtl="0">
              <a:lnSpc>
                <a:spcPct val="100000"/>
              </a:lnSpc>
              <a:spcBef>
                <a:spcPts val="0"/>
              </a:spcBef>
              <a:spcAft>
                <a:spcPts val="0"/>
              </a:spcAft>
              <a:buSzPts val="1000"/>
              <a:buNone/>
              <a:defRPr sz="1000"/>
            </a:lvl7pPr>
            <a:lvl8pPr lvl="7" algn="r" rtl="0">
              <a:lnSpc>
                <a:spcPct val="100000"/>
              </a:lnSpc>
              <a:spcBef>
                <a:spcPts val="0"/>
              </a:spcBef>
              <a:spcAft>
                <a:spcPts val="0"/>
              </a:spcAft>
              <a:buSzPts val="1000"/>
              <a:buNone/>
              <a:defRPr sz="1000"/>
            </a:lvl8pPr>
            <a:lvl9pPr lvl="8" algn="r" rtl="0">
              <a:lnSpc>
                <a:spcPct val="100000"/>
              </a:lnSpc>
              <a:spcBef>
                <a:spcPts val="0"/>
              </a:spcBef>
              <a:spcAft>
                <a:spcPts val="0"/>
              </a:spcAft>
              <a:buSzPts val="1000"/>
              <a:buNone/>
              <a:defRPr sz="1000"/>
            </a:lvl9pPr>
          </a:lstStyle>
          <a:p>
            <a:endParaRPr/>
          </a:p>
        </p:txBody>
      </p:sp>
      <p:sp>
        <p:nvSpPr>
          <p:cNvPr id="250" name="Google Shape;250;p25"/>
          <p:cNvSpPr txBox="1">
            <a:spLocks noGrp="1"/>
          </p:cNvSpPr>
          <p:nvPr>
            <p:ph type="title"/>
          </p:nvPr>
        </p:nvSpPr>
        <p:spPr>
          <a:xfrm>
            <a:off x="713075" y="539400"/>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251" name="Google Shape;251;p25"/>
          <p:cNvSpPr txBox="1">
            <a:spLocks noGrp="1"/>
          </p:cNvSpPr>
          <p:nvPr>
            <p:ph type="subTitle" idx="3"/>
          </p:nvPr>
        </p:nvSpPr>
        <p:spPr>
          <a:xfrm>
            <a:off x="711850" y="3181751"/>
            <a:ext cx="3261300" cy="976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BLANK_4">
    <p:bg>
      <p:bgPr>
        <a:blipFill>
          <a:blip r:embed="rId2">
            <a:alphaModFix/>
          </a:blip>
          <a:stretch>
            <a:fillRect/>
          </a:stretch>
        </a:blipFill>
        <a:effectLst/>
      </p:bgPr>
    </p:bg>
    <p:spTree>
      <p:nvGrpSpPr>
        <p:cNvPr id="1" name="Shape 284"/>
        <p:cNvGrpSpPr/>
        <p:nvPr/>
      </p:nvGrpSpPr>
      <p:grpSpPr>
        <a:xfrm>
          <a:off x="0" y="0"/>
          <a:ext cx="0" cy="0"/>
          <a:chOff x="0" y="0"/>
          <a:chExt cx="0" cy="0"/>
        </a:xfrm>
      </p:grpSpPr>
      <p:sp>
        <p:nvSpPr>
          <p:cNvPr id="285" name="Google Shape;285;p30"/>
          <p:cNvSpPr/>
          <p:nvPr/>
        </p:nvSpPr>
        <p:spPr>
          <a:xfrm rot="7618588" flipH="1">
            <a:off x="-1147397" y="-1622169"/>
            <a:ext cx="5322309" cy="5322309"/>
          </a:xfrm>
          <a:prstGeom prst="ellipse">
            <a:avLst/>
          </a:prstGeom>
          <a:gradFill>
            <a:gsLst>
              <a:gs pos="0">
                <a:srgbClr val="FFFFFF">
                  <a:alpha val="0"/>
                  <a:alpha val="20540"/>
                </a:srgbClr>
              </a:gs>
              <a:gs pos="100000">
                <a:srgbClr val="CC527A">
                  <a:alpha val="2054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BLANK_3">
    <p:bg>
      <p:bgPr>
        <a:blipFill>
          <a:blip r:embed="rId2">
            <a:alphaModFix/>
          </a:blip>
          <a:stretch>
            <a:fillRect/>
          </a:stretch>
        </a:blipFill>
        <a:effectLst/>
      </p:bgPr>
    </p:bg>
    <p:spTree>
      <p:nvGrpSpPr>
        <p:cNvPr id="1" name="Shape 286"/>
        <p:cNvGrpSpPr/>
        <p:nvPr/>
      </p:nvGrpSpPr>
      <p:grpSpPr>
        <a:xfrm>
          <a:off x="0" y="0"/>
          <a:ext cx="0" cy="0"/>
          <a:chOff x="0" y="0"/>
          <a:chExt cx="0" cy="0"/>
        </a:xfrm>
      </p:grpSpPr>
      <p:sp>
        <p:nvSpPr>
          <p:cNvPr id="287" name="Google Shape;287;p31"/>
          <p:cNvSpPr/>
          <p:nvPr/>
        </p:nvSpPr>
        <p:spPr>
          <a:xfrm rot="-6962841">
            <a:off x="-1235620" y="3067256"/>
            <a:ext cx="3073690" cy="3073690"/>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dk2"/>
            </a:gs>
            <a:gs pos="100000">
              <a:srgbClr val="CC527A"/>
            </a:gs>
          </a:gsLst>
          <a:lin ang="5400700"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075" y="539400"/>
            <a:ext cx="77178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1pPr>
            <a:lvl2pPr lvl="1">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2pPr>
            <a:lvl3pPr lvl="2">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3pPr>
            <a:lvl4pPr lvl="3">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4pPr>
            <a:lvl5pPr lvl="4">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5pPr>
            <a:lvl6pPr lvl="5">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6pPr>
            <a:lvl7pPr lvl="6">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7pPr>
            <a:lvl8pPr lvl="7">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8pPr>
            <a:lvl9pPr lvl="8">
              <a:spcBef>
                <a:spcPts val="0"/>
              </a:spcBef>
              <a:spcAft>
                <a:spcPts val="0"/>
              </a:spcAft>
              <a:buClr>
                <a:schemeClr val="lt1"/>
              </a:buClr>
              <a:buSzPts val="3200"/>
              <a:buFont typeface="Poppins SemiBold"/>
              <a:buNone/>
              <a:defRPr sz="3200">
                <a:solidFill>
                  <a:schemeClr val="lt1"/>
                </a:solidFill>
                <a:latin typeface="Poppins SemiBold"/>
                <a:ea typeface="Poppins SemiBold"/>
                <a:cs typeface="Poppins SemiBold"/>
                <a:sym typeface="Poppins SemiBold"/>
              </a:defRPr>
            </a:lvl9pPr>
          </a:lstStyle>
          <a:p>
            <a:endParaRPr/>
          </a:p>
        </p:txBody>
      </p:sp>
      <p:sp>
        <p:nvSpPr>
          <p:cNvPr id="7" name="Google Shape;7;p1"/>
          <p:cNvSpPr txBox="1">
            <a:spLocks noGrp="1"/>
          </p:cNvSpPr>
          <p:nvPr>
            <p:ph type="body" idx="1"/>
          </p:nvPr>
        </p:nvSpPr>
        <p:spPr>
          <a:xfrm>
            <a:off x="713075" y="1279575"/>
            <a:ext cx="7717800" cy="3289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1pPr>
            <a:lvl2pPr marL="914400" lvl="1"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2pPr>
            <a:lvl3pPr marL="1371600" lvl="2"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3pPr>
            <a:lvl4pPr marL="1828800" lvl="3"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4pPr>
            <a:lvl5pPr marL="2286000" lvl="4"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5pPr>
            <a:lvl6pPr marL="2743200" lvl="5"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6pPr>
            <a:lvl7pPr marL="3200400" lvl="6"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7pPr>
            <a:lvl8pPr marL="3657600" lvl="7"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8pPr>
            <a:lvl9pPr marL="4114800" lvl="8" indent="-317500">
              <a:lnSpc>
                <a:spcPct val="100000"/>
              </a:lnSpc>
              <a:spcBef>
                <a:spcPts val="0"/>
              </a:spcBef>
              <a:spcAft>
                <a:spcPts val="0"/>
              </a:spcAft>
              <a:buClr>
                <a:schemeClr val="lt1"/>
              </a:buClr>
              <a:buSzPts val="1400"/>
              <a:buFont typeface="Poppins"/>
              <a:buChar char="■"/>
              <a:defRPr>
                <a:solidFill>
                  <a:schemeClr val="lt1"/>
                </a:solidFill>
                <a:latin typeface="Poppins"/>
                <a:ea typeface="Poppins"/>
                <a:cs typeface="Poppins"/>
                <a:sym typeface="Poppins"/>
              </a:defRPr>
            </a:lvl9pPr>
          </a:lstStyle>
          <a:p>
            <a:endParaRPr/>
          </a:p>
        </p:txBody>
      </p:sp>
      <p:sp>
        <p:nvSpPr>
          <p:cNvPr id="8" name="Google Shape;8;p1"/>
          <p:cNvSpPr txBox="1">
            <a:spLocks noGrp="1"/>
          </p:cNvSpPr>
          <p:nvPr>
            <p:ph type="sldNum" idx="12"/>
          </p:nvPr>
        </p:nvSpPr>
        <p:spPr>
          <a:xfrm>
            <a:off x="713075" y="4616554"/>
            <a:ext cx="455700" cy="307500"/>
          </a:xfrm>
          <a:prstGeom prst="rect">
            <a:avLst/>
          </a:prstGeom>
          <a:noFill/>
          <a:ln>
            <a:noFill/>
          </a:ln>
        </p:spPr>
        <p:txBody>
          <a:bodyPr spcFirstLastPara="1" wrap="square" lIns="91425" tIns="91425" rIns="91425" bIns="91425" anchor="ctr" anchorCtr="0">
            <a:noAutofit/>
          </a:bodyPr>
          <a:lstStyle>
            <a:lvl1pPr lvl="0">
              <a:buNone/>
              <a:defRPr sz="1000">
                <a:solidFill>
                  <a:schemeClr val="lt1"/>
                </a:solidFill>
                <a:latin typeface="Poppins"/>
                <a:ea typeface="Poppins"/>
                <a:cs typeface="Poppins"/>
                <a:sym typeface="Poppins"/>
              </a:defRPr>
            </a:lvl1pPr>
            <a:lvl2pPr lvl="1">
              <a:buNone/>
              <a:defRPr sz="1000">
                <a:solidFill>
                  <a:schemeClr val="lt1"/>
                </a:solidFill>
                <a:latin typeface="Poppins"/>
                <a:ea typeface="Poppins"/>
                <a:cs typeface="Poppins"/>
                <a:sym typeface="Poppins"/>
              </a:defRPr>
            </a:lvl2pPr>
            <a:lvl3pPr lvl="2">
              <a:buNone/>
              <a:defRPr sz="1000">
                <a:solidFill>
                  <a:schemeClr val="lt1"/>
                </a:solidFill>
                <a:latin typeface="Poppins"/>
                <a:ea typeface="Poppins"/>
                <a:cs typeface="Poppins"/>
                <a:sym typeface="Poppins"/>
              </a:defRPr>
            </a:lvl3pPr>
            <a:lvl4pPr lvl="3">
              <a:buNone/>
              <a:defRPr sz="1000">
                <a:solidFill>
                  <a:schemeClr val="lt1"/>
                </a:solidFill>
                <a:latin typeface="Poppins"/>
                <a:ea typeface="Poppins"/>
                <a:cs typeface="Poppins"/>
                <a:sym typeface="Poppins"/>
              </a:defRPr>
            </a:lvl4pPr>
            <a:lvl5pPr lvl="4">
              <a:buNone/>
              <a:defRPr sz="1000">
                <a:solidFill>
                  <a:schemeClr val="lt1"/>
                </a:solidFill>
                <a:latin typeface="Poppins"/>
                <a:ea typeface="Poppins"/>
                <a:cs typeface="Poppins"/>
                <a:sym typeface="Poppins"/>
              </a:defRPr>
            </a:lvl5pPr>
            <a:lvl6pPr lvl="5">
              <a:buNone/>
              <a:defRPr sz="1000">
                <a:solidFill>
                  <a:schemeClr val="lt1"/>
                </a:solidFill>
                <a:latin typeface="Poppins"/>
                <a:ea typeface="Poppins"/>
                <a:cs typeface="Poppins"/>
                <a:sym typeface="Poppins"/>
              </a:defRPr>
            </a:lvl6pPr>
            <a:lvl7pPr lvl="6">
              <a:buNone/>
              <a:defRPr sz="1000">
                <a:solidFill>
                  <a:schemeClr val="lt1"/>
                </a:solidFill>
                <a:latin typeface="Poppins"/>
                <a:ea typeface="Poppins"/>
                <a:cs typeface="Poppins"/>
                <a:sym typeface="Poppins"/>
              </a:defRPr>
            </a:lvl7pPr>
            <a:lvl8pPr lvl="7">
              <a:buNone/>
              <a:defRPr sz="1000">
                <a:solidFill>
                  <a:schemeClr val="lt1"/>
                </a:solidFill>
                <a:latin typeface="Poppins"/>
                <a:ea typeface="Poppins"/>
                <a:cs typeface="Poppins"/>
                <a:sym typeface="Poppins"/>
              </a:defRPr>
            </a:lvl8pPr>
            <a:lvl9pPr lvl="8">
              <a:buNone/>
              <a:defRPr sz="1000">
                <a:solidFill>
                  <a:schemeClr val="lt1"/>
                </a:solidFill>
                <a:latin typeface="Poppins"/>
                <a:ea typeface="Poppins"/>
                <a:cs typeface="Poppins"/>
                <a:sym typeface="Poppins"/>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5" r:id="rId4"/>
    <p:sldLayoutId id="2147483658" r:id="rId5"/>
    <p:sldLayoutId id="2147483659" r:id="rId6"/>
    <p:sldLayoutId id="2147483660" r:id="rId7"/>
    <p:sldLayoutId id="2147483664" r:id="rId8"/>
    <p:sldLayoutId id="2147483665" r:id="rId9"/>
    <p:sldLayoutId id="2147483667" r:id="rId10"/>
    <p:sldLayoutId id="2147483669" r:id="rId11"/>
    <p:sldLayoutId id="2147483670" r:id="rId12"/>
    <p:sldLayoutId id="2147483671" r:id="rId13"/>
    <p:sldLayoutId id="2147483676" r:id="rId14"/>
    <p:sldLayoutId id="2147483677"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35"/>
          <p:cNvSpPr/>
          <p:nvPr/>
        </p:nvSpPr>
        <p:spPr>
          <a:xfrm>
            <a:off x="2198766" y="3580251"/>
            <a:ext cx="4743900" cy="489300"/>
          </a:xfrm>
          <a:prstGeom prst="roundRect">
            <a:avLst>
              <a:gd name="adj" fmla="val 50000"/>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5"/>
          <p:cNvSpPr txBox="1">
            <a:spLocks noGrp="1"/>
          </p:cNvSpPr>
          <p:nvPr>
            <p:ph type="ctrTitle"/>
          </p:nvPr>
        </p:nvSpPr>
        <p:spPr>
          <a:xfrm>
            <a:off x="713075" y="1062537"/>
            <a:ext cx="7887777" cy="184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6000" dirty="0"/>
              <a:t>SafeCircle</a:t>
            </a:r>
            <a:br>
              <a:rPr lang="en" sz="6000" dirty="0"/>
            </a:br>
            <a:r>
              <a:rPr lang="en" sz="4000" dirty="0"/>
              <a:t>GBV EMERGENCY SUPPORT APP</a:t>
            </a:r>
            <a:endParaRPr sz="4500" dirty="0">
              <a:solidFill>
                <a:schemeClr val="lt1"/>
              </a:solidFill>
            </a:endParaRPr>
          </a:p>
        </p:txBody>
      </p:sp>
      <p:sp>
        <p:nvSpPr>
          <p:cNvPr id="300" name="Google Shape;300;p35"/>
          <p:cNvSpPr txBox="1">
            <a:spLocks noGrp="1"/>
          </p:cNvSpPr>
          <p:nvPr>
            <p:ph type="subTitle" idx="1"/>
          </p:nvPr>
        </p:nvSpPr>
        <p:spPr>
          <a:xfrm>
            <a:off x="2464116" y="3659601"/>
            <a:ext cx="4213200" cy="33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100"/>
              <a:t>Presented </a:t>
            </a:r>
            <a:r>
              <a:rPr lang="en" sz="1100" dirty="0"/>
              <a:t>by Tumelo(51161338),Okuhle(45050465),Boitumelo(48311340)</a:t>
            </a:r>
            <a:endParaRPr sz="1100" dirty="0"/>
          </a:p>
        </p:txBody>
      </p:sp>
      <p:sp>
        <p:nvSpPr>
          <p:cNvPr id="301" name="Google Shape;301;p35"/>
          <p:cNvSpPr txBox="1">
            <a:spLocks noGrp="1"/>
          </p:cNvSpPr>
          <p:nvPr>
            <p:ph type="subTitle" idx="2"/>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 </a:t>
            </a:r>
            <a:endParaRPr dirty="0"/>
          </a:p>
        </p:txBody>
      </p:sp>
      <p:sp>
        <p:nvSpPr>
          <p:cNvPr id="302" name="Google Shape;302;p35"/>
          <p:cNvSpPr txBox="1">
            <a:spLocks noGrp="1"/>
          </p:cNvSpPr>
          <p:nvPr>
            <p:ph type="subTitle" idx="3"/>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303" name="Google Shape;303;p35"/>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7"/>
          <p:cNvSpPr/>
          <p:nvPr/>
        </p:nvSpPr>
        <p:spPr>
          <a:xfrm>
            <a:off x="2091498" y="896342"/>
            <a:ext cx="1801800" cy="1891851"/>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7"/>
          <p:cNvSpPr/>
          <p:nvPr/>
        </p:nvSpPr>
        <p:spPr>
          <a:xfrm>
            <a:off x="4085314" y="874605"/>
            <a:ext cx="1801800" cy="1940392"/>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7"/>
          <p:cNvSpPr/>
          <p:nvPr/>
        </p:nvSpPr>
        <p:spPr>
          <a:xfrm>
            <a:off x="6151602" y="883909"/>
            <a:ext cx="1801800" cy="1940392"/>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7"/>
          <p:cNvSpPr/>
          <p:nvPr/>
        </p:nvSpPr>
        <p:spPr>
          <a:xfrm>
            <a:off x="71638" y="883909"/>
            <a:ext cx="1801800" cy="1891851"/>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7"/>
          <p:cNvSpPr/>
          <p:nvPr/>
        </p:nvSpPr>
        <p:spPr>
          <a:xfrm>
            <a:off x="526925" y="1175793"/>
            <a:ext cx="828000" cy="82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7"/>
          <p:cNvSpPr/>
          <p:nvPr/>
        </p:nvSpPr>
        <p:spPr>
          <a:xfrm>
            <a:off x="2553835" y="1211218"/>
            <a:ext cx="828000" cy="828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7"/>
          <p:cNvSpPr/>
          <p:nvPr/>
        </p:nvSpPr>
        <p:spPr>
          <a:xfrm>
            <a:off x="4619393" y="1202051"/>
            <a:ext cx="828000" cy="82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7"/>
          <p:cNvSpPr/>
          <p:nvPr/>
        </p:nvSpPr>
        <p:spPr>
          <a:xfrm>
            <a:off x="6712702" y="1243506"/>
            <a:ext cx="828000" cy="828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7"/>
          <p:cNvSpPr txBox="1">
            <a:spLocks noGrp="1"/>
          </p:cNvSpPr>
          <p:nvPr>
            <p:ph type="title"/>
          </p:nvPr>
        </p:nvSpPr>
        <p:spPr>
          <a:xfrm>
            <a:off x="-42076" y="2149461"/>
            <a:ext cx="1801800" cy="54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dirty="0"/>
              <a:t>Introduction&amp;</a:t>
            </a:r>
            <a:br>
              <a:rPr lang="en" sz="1400" dirty="0"/>
            </a:br>
            <a:r>
              <a:rPr lang="en" sz="1400" dirty="0"/>
              <a:t>Team Overview</a:t>
            </a:r>
            <a:endParaRPr sz="1400" dirty="0"/>
          </a:p>
        </p:txBody>
      </p:sp>
      <p:sp>
        <p:nvSpPr>
          <p:cNvPr id="327" name="Google Shape;327;p37"/>
          <p:cNvSpPr txBox="1">
            <a:spLocks noGrp="1"/>
          </p:cNvSpPr>
          <p:nvPr>
            <p:ph type="title" idx="2"/>
          </p:nvPr>
        </p:nvSpPr>
        <p:spPr>
          <a:xfrm>
            <a:off x="530761" y="1339736"/>
            <a:ext cx="663900" cy="45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28" name="Google Shape;328;p37"/>
          <p:cNvSpPr txBox="1">
            <a:spLocks noGrp="1"/>
          </p:cNvSpPr>
          <p:nvPr>
            <p:ph type="title" idx="3"/>
          </p:nvPr>
        </p:nvSpPr>
        <p:spPr>
          <a:xfrm>
            <a:off x="1899482" y="2149461"/>
            <a:ext cx="1801800" cy="54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ZA" sz="1400" dirty="0"/>
              <a:t>Challenge Definition</a:t>
            </a:r>
            <a:endParaRPr sz="1400" dirty="0"/>
          </a:p>
        </p:txBody>
      </p:sp>
      <p:sp>
        <p:nvSpPr>
          <p:cNvPr id="330" name="Google Shape;330;p37"/>
          <p:cNvSpPr txBox="1">
            <a:spLocks noGrp="1"/>
          </p:cNvSpPr>
          <p:nvPr>
            <p:ph type="title" idx="5"/>
          </p:nvPr>
        </p:nvSpPr>
        <p:spPr>
          <a:xfrm>
            <a:off x="2588753" y="1363904"/>
            <a:ext cx="663900" cy="457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331" name="Google Shape;331;p37"/>
          <p:cNvSpPr txBox="1">
            <a:spLocks noGrp="1"/>
          </p:cNvSpPr>
          <p:nvPr>
            <p:ph type="title" idx="6"/>
          </p:nvPr>
        </p:nvSpPr>
        <p:spPr>
          <a:xfrm>
            <a:off x="4106449" y="2149461"/>
            <a:ext cx="1801800" cy="54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ZA" sz="1400" dirty="0"/>
              <a:t>Proposed Solution</a:t>
            </a:r>
            <a:endParaRPr sz="1400" dirty="0"/>
          </a:p>
        </p:txBody>
      </p:sp>
      <p:sp>
        <p:nvSpPr>
          <p:cNvPr id="333" name="Google Shape;333;p37"/>
          <p:cNvSpPr txBox="1">
            <a:spLocks noGrp="1"/>
          </p:cNvSpPr>
          <p:nvPr>
            <p:ph type="title" idx="8"/>
          </p:nvPr>
        </p:nvSpPr>
        <p:spPr>
          <a:xfrm>
            <a:off x="4701443" y="1387301"/>
            <a:ext cx="663900" cy="45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334" name="Google Shape;334;p37"/>
          <p:cNvSpPr txBox="1">
            <a:spLocks noGrp="1"/>
          </p:cNvSpPr>
          <p:nvPr>
            <p:ph type="title" idx="9"/>
          </p:nvPr>
        </p:nvSpPr>
        <p:spPr>
          <a:xfrm>
            <a:off x="6225802" y="2231260"/>
            <a:ext cx="1801800" cy="544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ZA" sz="1400" dirty="0"/>
              <a:t>How SafeCircle Works</a:t>
            </a:r>
            <a:endParaRPr sz="1400" dirty="0"/>
          </a:p>
        </p:txBody>
      </p:sp>
      <p:sp>
        <p:nvSpPr>
          <p:cNvPr id="336" name="Google Shape;336;p37"/>
          <p:cNvSpPr txBox="1">
            <a:spLocks noGrp="1"/>
          </p:cNvSpPr>
          <p:nvPr>
            <p:ph type="title" idx="14"/>
          </p:nvPr>
        </p:nvSpPr>
        <p:spPr>
          <a:xfrm>
            <a:off x="6794752" y="1428756"/>
            <a:ext cx="663900" cy="45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337" name="Google Shape;337;p37"/>
          <p:cNvSpPr txBox="1">
            <a:spLocks noGrp="1"/>
          </p:cNvSpPr>
          <p:nvPr>
            <p:ph type="title" idx="15"/>
          </p:nvPr>
        </p:nvSpPr>
        <p:spPr>
          <a:xfrm>
            <a:off x="107929" y="201164"/>
            <a:ext cx="7717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Table of contents</a:t>
            </a:r>
            <a:endParaRPr dirty="0"/>
          </a:p>
        </p:txBody>
      </p:sp>
      <p:sp>
        <p:nvSpPr>
          <p:cNvPr id="338" name="Google Shape;338;p37"/>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a:t>
            </a:fld>
            <a:endParaRPr/>
          </a:p>
        </p:txBody>
      </p:sp>
      <p:sp>
        <p:nvSpPr>
          <p:cNvPr id="339" name="Google Shape;339;p37"/>
          <p:cNvSpPr txBox="1">
            <a:spLocks noGrp="1"/>
          </p:cNvSpPr>
          <p:nvPr>
            <p:ph type="subTitle" idx="16"/>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340" name="Google Shape;340;p37"/>
          <p:cNvSpPr txBox="1">
            <a:spLocks noGrp="1"/>
          </p:cNvSpPr>
          <p:nvPr>
            <p:ph type="subTitle" idx="17"/>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4" name="Google Shape;320;p37">
            <a:extLst>
              <a:ext uri="{FF2B5EF4-FFF2-40B4-BE49-F238E27FC236}">
                <a16:creationId xmlns:a16="http://schemas.microsoft.com/office/drawing/2014/main" id="{B34A815B-BE7E-2C31-1013-4B2CA967F59D}"/>
              </a:ext>
            </a:extLst>
          </p:cNvPr>
          <p:cNvSpPr/>
          <p:nvPr/>
        </p:nvSpPr>
        <p:spPr>
          <a:xfrm>
            <a:off x="72946" y="2865229"/>
            <a:ext cx="1801800" cy="1751325"/>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20;p37">
            <a:extLst>
              <a:ext uri="{FF2B5EF4-FFF2-40B4-BE49-F238E27FC236}">
                <a16:creationId xmlns:a16="http://schemas.microsoft.com/office/drawing/2014/main" id="{123C0E68-9661-BE5E-6379-BCAB5B923EA6}"/>
              </a:ext>
            </a:extLst>
          </p:cNvPr>
          <p:cNvSpPr/>
          <p:nvPr/>
        </p:nvSpPr>
        <p:spPr>
          <a:xfrm>
            <a:off x="2066935" y="2878453"/>
            <a:ext cx="1801800" cy="1745401"/>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20;p37">
            <a:extLst>
              <a:ext uri="{FF2B5EF4-FFF2-40B4-BE49-F238E27FC236}">
                <a16:creationId xmlns:a16="http://schemas.microsoft.com/office/drawing/2014/main" id="{F3ACE446-C3C0-45CA-69C9-C0209720566A}"/>
              </a:ext>
            </a:extLst>
          </p:cNvPr>
          <p:cNvSpPr/>
          <p:nvPr/>
        </p:nvSpPr>
        <p:spPr>
          <a:xfrm>
            <a:off x="4085314" y="2915738"/>
            <a:ext cx="1801800" cy="1666397"/>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20;p37">
            <a:extLst>
              <a:ext uri="{FF2B5EF4-FFF2-40B4-BE49-F238E27FC236}">
                <a16:creationId xmlns:a16="http://schemas.microsoft.com/office/drawing/2014/main" id="{C47609A1-D903-1DF7-B54B-5AC473F65F0B}"/>
              </a:ext>
            </a:extLst>
          </p:cNvPr>
          <p:cNvSpPr/>
          <p:nvPr/>
        </p:nvSpPr>
        <p:spPr>
          <a:xfrm>
            <a:off x="6176115" y="2925133"/>
            <a:ext cx="1801800" cy="1625991"/>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21;p37">
            <a:extLst>
              <a:ext uri="{FF2B5EF4-FFF2-40B4-BE49-F238E27FC236}">
                <a16:creationId xmlns:a16="http://schemas.microsoft.com/office/drawing/2014/main" id="{CA199CB4-8904-12F1-9DE5-35704C494FB0}"/>
              </a:ext>
            </a:extLst>
          </p:cNvPr>
          <p:cNvSpPr/>
          <p:nvPr/>
        </p:nvSpPr>
        <p:spPr>
          <a:xfrm>
            <a:off x="521105" y="2925133"/>
            <a:ext cx="828000" cy="82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en" dirty="0"/>
          </a:p>
        </p:txBody>
      </p:sp>
      <p:sp>
        <p:nvSpPr>
          <p:cNvPr id="9" name="Google Shape;321;p37">
            <a:extLst>
              <a:ext uri="{FF2B5EF4-FFF2-40B4-BE49-F238E27FC236}">
                <a16:creationId xmlns:a16="http://schemas.microsoft.com/office/drawing/2014/main" id="{21462A72-D2E8-119C-2278-60EEFC850B5B}"/>
              </a:ext>
            </a:extLst>
          </p:cNvPr>
          <p:cNvSpPr/>
          <p:nvPr/>
        </p:nvSpPr>
        <p:spPr>
          <a:xfrm>
            <a:off x="4535106" y="2947452"/>
            <a:ext cx="828000" cy="8280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22;p37">
            <a:extLst>
              <a:ext uri="{FF2B5EF4-FFF2-40B4-BE49-F238E27FC236}">
                <a16:creationId xmlns:a16="http://schemas.microsoft.com/office/drawing/2014/main" id="{578E0A8A-86B2-B74F-DC46-B92E7D368614}"/>
              </a:ext>
            </a:extLst>
          </p:cNvPr>
          <p:cNvSpPr/>
          <p:nvPr/>
        </p:nvSpPr>
        <p:spPr>
          <a:xfrm>
            <a:off x="2506703" y="2931617"/>
            <a:ext cx="828000" cy="828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24;p37">
            <a:extLst>
              <a:ext uri="{FF2B5EF4-FFF2-40B4-BE49-F238E27FC236}">
                <a16:creationId xmlns:a16="http://schemas.microsoft.com/office/drawing/2014/main" id="{1ACFA5DE-094F-EAE4-393F-758CD1458A24}"/>
              </a:ext>
            </a:extLst>
          </p:cNvPr>
          <p:cNvSpPr/>
          <p:nvPr/>
        </p:nvSpPr>
        <p:spPr>
          <a:xfrm>
            <a:off x="6712702" y="2963103"/>
            <a:ext cx="828000" cy="8280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27;p37">
            <a:extLst>
              <a:ext uri="{FF2B5EF4-FFF2-40B4-BE49-F238E27FC236}">
                <a16:creationId xmlns:a16="http://schemas.microsoft.com/office/drawing/2014/main" id="{59F59443-909C-0EEB-991C-39A27C9C8E19}"/>
              </a:ext>
            </a:extLst>
          </p:cNvPr>
          <p:cNvSpPr txBox="1">
            <a:spLocks/>
          </p:cNvSpPr>
          <p:nvPr/>
        </p:nvSpPr>
        <p:spPr>
          <a:xfrm>
            <a:off x="571862" y="3116867"/>
            <a:ext cx="663900" cy="45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9pPr>
          </a:lstStyle>
          <a:p>
            <a:r>
              <a:rPr lang="en" dirty="0"/>
              <a:t>05</a:t>
            </a:r>
          </a:p>
        </p:txBody>
      </p:sp>
      <p:sp>
        <p:nvSpPr>
          <p:cNvPr id="15" name="Google Shape;327;p37">
            <a:extLst>
              <a:ext uri="{FF2B5EF4-FFF2-40B4-BE49-F238E27FC236}">
                <a16:creationId xmlns:a16="http://schemas.microsoft.com/office/drawing/2014/main" id="{9FB710CD-ED2E-4C26-1880-94D2128C7CA6}"/>
              </a:ext>
            </a:extLst>
          </p:cNvPr>
          <p:cNvSpPr txBox="1">
            <a:spLocks/>
          </p:cNvSpPr>
          <p:nvPr/>
        </p:nvSpPr>
        <p:spPr>
          <a:xfrm>
            <a:off x="4617156" y="3142443"/>
            <a:ext cx="663900" cy="45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9pPr>
          </a:lstStyle>
          <a:p>
            <a:r>
              <a:rPr lang="en" dirty="0"/>
              <a:t>07</a:t>
            </a:r>
          </a:p>
        </p:txBody>
      </p:sp>
      <p:sp>
        <p:nvSpPr>
          <p:cNvPr id="16" name="Google Shape;330;p37">
            <a:extLst>
              <a:ext uri="{FF2B5EF4-FFF2-40B4-BE49-F238E27FC236}">
                <a16:creationId xmlns:a16="http://schemas.microsoft.com/office/drawing/2014/main" id="{771B70C3-895A-2444-A708-E17ADC39A26D}"/>
              </a:ext>
            </a:extLst>
          </p:cNvPr>
          <p:cNvSpPr txBox="1">
            <a:spLocks/>
          </p:cNvSpPr>
          <p:nvPr/>
        </p:nvSpPr>
        <p:spPr>
          <a:xfrm>
            <a:off x="2557460" y="3132852"/>
            <a:ext cx="663900"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9pPr>
          </a:lstStyle>
          <a:p>
            <a:r>
              <a:rPr lang="en" dirty="0"/>
              <a:t>06</a:t>
            </a:r>
          </a:p>
        </p:txBody>
      </p:sp>
      <p:sp>
        <p:nvSpPr>
          <p:cNvPr id="17" name="Google Shape;330;p37">
            <a:extLst>
              <a:ext uri="{FF2B5EF4-FFF2-40B4-BE49-F238E27FC236}">
                <a16:creationId xmlns:a16="http://schemas.microsoft.com/office/drawing/2014/main" id="{5C8FDBFD-063E-389F-5294-0A9B19D55618}"/>
              </a:ext>
            </a:extLst>
          </p:cNvPr>
          <p:cNvSpPr txBox="1">
            <a:spLocks/>
          </p:cNvSpPr>
          <p:nvPr/>
        </p:nvSpPr>
        <p:spPr>
          <a:xfrm>
            <a:off x="6794752" y="3132852"/>
            <a:ext cx="663900" cy="4572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500"/>
              <a:buFont typeface="Poppins SemiBold"/>
              <a:buNone/>
              <a:defRPr sz="2500" b="0" i="0" u="none" strike="noStrike" cap="none">
                <a:solidFill>
                  <a:schemeClr val="accent2"/>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2500"/>
              <a:buFont typeface="Poppins SemiBold"/>
              <a:buNone/>
              <a:defRPr sz="2500" b="0" i="0" u="none" strike="noStrike" cap="none">
                <a:solidFill>
                  <a:schemeClr val="lt1"/>
                </a:solidFill>
                <a:latin typeface="Poppins SemiBold"/>
                <a:ea typeface="Poppins SemiBold"/>
                <a:cs typeface="Poppins SemiBold"/>
                <a:sym typeface="Poppins SemiBold"/>
              </a:defRPr>
            </a:lvl9pPr>
          </a:lstStyle>
          <a:p>
            <a:r>
              <a:rPr lang="en" dirty="0"/>
              <a:t>08</a:t>
            </a:r>
          </a:p>
        </p:txBody>
      </p:sp>
      <p:sp>
        <p:nvSpPr>
          <p:cNvPr id="18" name="Google Shape;325;p37">
            <a:extLst>
              <a:ext uri="{FF2B5EF4-FFF2-40B4-BE49-F238E27FC236}">
                <a16:creationId xmlns:a16="http://schemas.microsoft.com/office/drawing/2014/main" id="{598C72BA-1B3F-DEAE-1626-AAA734312DC5}"/>
              </a:ext>
            </a:extLst>
          </p:cNvPr>
          <p:cNvSpPr txBox="1">
            <a:spLocks/>
          </p:cNvSpPr>
          <p:nvPr/>
        </p:nvSpPr>
        <p:spPr>
          <a:xfrm>
            <a:off x="2937" y="3755070"/>
            <a:ext cx="1801800" cy="544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9pPr>
          </a:lstStyle>
          <a:p>
            <a:r>
              <a:rPr lang="en-ZA" sz="1400" dirty="0"/>
              <a:t>Key Features </a:t>
            </a:r>
          </a:p>
        </p:txBody>
      </p:sp>
      <p:sp>
        <p:nvSpPr>
          <p:cNvPr id="19" name="Google Shape;325;p37">
            <a:extLst>
              <a:ext uri="{FF2B5EF4-FFF2-40B4-BE49-F238E27FC236}">
                <a16:creationId xmlns:a16="http://schemas.microsoft.com/office/drawing/2014/main" id="{2E58F3BD-379B-684A-3AEB-25440455383C}"/>
              </a:ext>
            </a:extLst>
          </p:cNvPr>
          <p:cNvSpPr txBox="1">
            <a:spLocks/>
          </p:cNvSpPr>
          <p:nvPr/>
        </p:nvSpPr>
        <p:spPr>
          <a:xfrm>
            <a:off x="1996926" y="3840864"/>
            <a:ext cx="1801800" cy="544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9pPr>
          </a:lstStyle>
          <a:p>
            <a:r>
              <a:rPr lang="en-ZA" sz="1400" dirty="0"/>
              <a:t>Community Impact</a:t>
            </a:r>
          </a:p>
        </p:txBody>
      </p:sp>
      <p:sp>
        <p:nvSpPr>
          <p:cNvPr id="20" name="Google Shape;325;p37">
            <a:extLst>
              <a:ext uri="{FF2B5EF4-FFF2-40B4-BE49-F238E27FC236}">
                <a16:creationId xmlns:a16="http://schemas.microsoft.com/office/drawing/2014/main" id="{52E5E5DF-30EA-1AB8-6CD5-C2E9B42E8338}"/>
              </a:ext>
            </a:extLst>
          </p:cNvPr>
          <p:cNvSpPr txBox="1">
            <a:spLocks/>
          </p:cNvSpPr>
          <p:nvPr/>
        </p:nvSpPr>
        <p:spPr>
          <a:xfrm>
            <a:off x="4060924" y="3786245"/>
            <a:ext cx="1801800" cy="544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9pPr>
          </a:lstStyle>
          <a:p>
            <a:r>
              <a:rPr lang="en-ZA" sz="1400" dirty="0"/>
              <a:t>Business Model&amp;</a:t>
            </a:r>
          </a:p>
          <a:p>
            <a:r>
              <a:rPr lang="en-ZA" sz="1400" dirty="0"/>
              <a:t>Support</a:t>
            </a:r>
          </a:p>
        </p:txBody>
      </p:sp>
      <p:sp>
        <p:nvSpPr>
          <p:cNvPr id="21" name="Google Shape;325;p37">
            <a:extLst>
              <a:ext uri="{FF2B5EF4-FFF2-40B4-BE49-F238E27FC236}">
                <a16:creationId xmlns:a16="http://schemas.microsoft.com/office/drawing/2014/main" id="{CB0C378F-0F26-0C26-D5F1-780042E42C89}"/>
              </a:ext>
            </a:extLst>
          </p:cNvPr>
          <p:cNvSpPr txBox="1">
            <a:spLocks/>
          </p:cNvSpPr>
          <p:nvPr/>
        </p:nvSpPr>
        <p:spPr>
          <a:xfrm>
            <a:off x="6176115" y="3812810"/>
            <a:ext cx="1801800" cy="544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1800"/>
              <a:buFont typeface="Poppins SemiBold"/>
              <a:buNone/>
              <a:defRPr sz="1800" b="0" i="0" u="none" strike="noStrike" cap="none">
                <a:solidFill>
                  <a:schemeClr val="lt1"/>
                </a:solidFill>
                <a:latin typeface="Poppins SemiBold"/>
                <a:ea typeface="Poppins SemiBold"/>
                <a:cs typeface="Poppins SemiBold"/>
                <a:sym typeface="Poppins SemiBold"/>
              </a:defRPr>
            </a:lvl9pPr>
          </a:lstStyle>
          <a:p>
            <a:r>
              <a:rPr lang="en-ZA" sz="1400" dirty="0"/>
              <a:t>Conclusion &amp;</a:t>
            </a:r>
          </a:p>
          <a:p>
            <a:r>
              <a:rPr lang="en-ZA" sz="1400" dirty="0"/>
              <a:t>Call to Action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38"/>
          <p:cNvSpPr txBox="1">
            <a:spLocks noGrp="1"/>
          </p:cNvSpPr>
          <p:nvPr>
            <p:ph type="title"/>
          </p:nvPr>
        </p:nvSpPr>
        <p:spPr>
          <a:xfrm>
            <a:off x="2839350" y="400692"/>
            <a:ext cx="3465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346" name="Google Shape;346;p38"/>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3</a:t>
            </a:fld>
            <a:endParaRPr/>
          </a:p>
        </p:txBody>
      </p:sp>
      <p:sp>
        <p:nvSpPr>
          <p:cNvPr id="347" name="Google Shape;347;p38"/>
          <p:cNvSpPr txBox="1">
            <a:spLocks noGrp="1"/>
          </p:cNvSpPr>
          <p:nvPr>
            <p:ph type="subTitle" idx="3"/>
          </p:nvPr>
        </p:nvSpPr>
        <p:spPr>
          <a:xfrm>
            <a:off x="2839350" y="1924342"/>
            <a:ext cx="3465300" cy="144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ZA" dirty="0"/>
              <a:t>Team Name : SafeTech Solutions</a:t>
            </a:r>
          </a:p>
          <a:p>
            <a:pPr marL="0" lvl="0" indent="0" algn="ctr" rtl="0">
              <a:spcBef>
                <a:spcPts val="0"/>
              </a:spcBef>
              <a:spcAft>
                <a:spcPts val="0"/>
              </a:spcAft>
              <a:buNone/>
            </a:pPr>
            <a:endParaRPr lang="en-ZA" dirty="0"/>
          </a:p>
          <a:p>
            <a:pPr marL="0" lvl="0" indent="0" algn="ctr" rtl="0">
              <a:spcBef>
                <a:spcPts val="0"/>
              </a:spcBef>
              <a:spcAft>
                <a:spcPts val="0"/>
              </a:spcAft>
              <a:buNone/>
            </a:pPr>
            <a:r>
              <a:rPr lang="en-ZA" dirty="0"/>
              <a:t>App Name: SafeCircle</a:t>
            </a:r>
          </a:p>
          <a:p>
            <a:pPr marL="0" lvl="0" indent="0" algn="ctr" rtl="0">
              <a:spcBef>
                <a:spcPts val="0"/>
              </a:spcBef>
              <a:spcAft>
                <a:spcPts val="0"/>
              </a:spcAft>
              <a:buNone/>
            </a:pPr>
            <a:endParaRPr lang="en-ZA" dirty="0"/>
          </a:p>
          <a:p>
            <a:pPr marL="0" lvl="0" indent="0" algn="ctr" rtl="0">
              <a:spcBef>
                <a:spcPts val="0"/>
              </a:spcBef>
              <a:spcAft>
                <a:spcPts val="0"/>
              </a:spcAft>
              <a:buNone/>
            </a:pPr>
            <a:endParaRPr lang="en-ZA" dirty="0"/>
          </a:p>
          <a:p>
            <a:pPr marL="0" lvl="0" indent="0" algn="ctr" rtl="0">
              <a:spcBef>
                <a:spcPts val="0"/>
              </a:spcBef>
              <a:spcAft>
                <a:spcPts val="0"/>
              </a:spcAft>
              <a:buNone/>
            </a:pPr>
            <a:endParaRPr lang="en-ZA" dirty="0"/>
          </a:p>
        </p:txBody>
      </p:sp>
      <p:sp>
        <p:nvSpPr>
          <p:cNvPr id="348" name="Google Shape;348;p38"/>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349" name="Google Shape;349;p38"/>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2" name="Google Shape;355;p39">
            <a:extLst>
              <a:ext uri="{FF2B5EF4-FFF2-40B4-BE49-F238E27FC236}">
                <a16:creationId xmlns:a16="http://schemas.microsoft.com/office/drawing/2014/main" id="{C1B52AF3-F3D8-38B2-7BF3-441CC2A2A0D3}"/>
              </a:ext>
            </a:extLst>
          </p:cNvPr>
          <p:cNvSpPr/>
          <p:nvPr/>
        </p:nvSpPr>
        <p:spPr>
          <a:xfrm>
            <a:off x="1835631" y="161741"/>
            <a:ext cx="1169400" cy="1169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58;p39">
            <a:extLst>
              <a:ext uri="{FF2B5EF4-FFF2-40B4-BE49-F238E27FC236}">
                <a16:creationId xmlns:a16="http://schemas.microsoft.com/office/drawing/2014/main" id="{F4B69BA3-CB46-7716-5625-D32F6496F37E}"/>
              </a:ext>
            </a:extLst>
          </p:cNvPr>
          <p:cNvSpPr txBox="1">
            <a:spLocks/>
          </p:cNvSpPr>
          <p:nvPr/>
        </p:nvSpPr>
        <p:spPr>
          <a:xfrm>
            <a:off x="1906731" y="400692"/>
            <a:ext cx="1027200" cy="771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1pPr>
            <a:lvl2pPr marL="914400" marR="0" lvl="1"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2pPr>
            <a:lvl3pPr marL="1371600" marR="0" lvl="2"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3pPr>
            <a:lvl4pPr marL="1828800" marR="0" lvl="3"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4pPr>
            <a:lvl5pPr marL="2286000" marR="0" lvl="4"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5pPr>
            <a:lvl6pPr marL="2743200" marR="0" lvl="5"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6pPr>
            <a:lvl7pPr marL="3200400" marR="0" lvl="6"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7pPr>
            <a:lvl8pPr marL="3657600" marR="0" lvl="7"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8pPr>
            <a:lvl9pPr marL="4114800" marR="0" lvl="8"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9pPr>
          </a:lstStyle>
          <a:p>
            <a:pPr marL="0" indent="0" algn="ctr"/>
            <a:r>
              <a:rPr lang="en" sz="3600" dirty="0">
                <a:latin typeface="Poppins SemiBold" panose="00000700000000000000" pitchFamily="2" charset="0"/>
                <a:cs typeface="Poppins SemiBold" panose="00000700000000000000" pitchFamily="2" charset="0"/>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1"/>
          <p:cNvSpPr txBox="1">
            <a:spLocks noGrp="1"/>
          </p:cNvSpPr>
          <p:nvPr>
            <p:ph type="title"/>
          </p:nvPr>
        </p:nvSpPr>
        <p:spPr>
          <a:xfrm>
            <a:off x="713075" y="539400"/>
            <a:ext cx="7717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Our team</a:t>
            </a:r>
            <a:endParaRPr/>
          </a:p>
        </p:txBody>
      </p:sp>
      <p:sp>
        <p:nvSpPr>
          <p:cNvPr id="378" name="Google Shape;378;p41"/>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4</a:t>
            </a:fld>
            <a:endParaRPr/>
          </a:p>
        </p:txBody>
      </p:sp>
      <p:sp>
        <p:nvSpPr>
          <p:cNvPr id="379" name="Google Shape;379;p41"/>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380" name="Google Shape;380;p41"/>
          <p:cNvSpPr txBox="1">
            <a:spLocks noGrp="1"/>
          </p:cNvSpPr>
          <p:nvPr>
            <p:ph type="subTitle" idx="3"/>
          </p:nvPr>
        </p:nvSpPr>
        <p:spPr>
          <a:xfrm>
            <a:off x="732789" y="3547034"/>
            <a:ext cx="2516099" cy="95608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ZA" dirty="0"/>
              <a:t>Role: Project Lead&amp; Slide Developer </a:t>
            </a:r>
          </a:p>
        </p:txBody>
      </p:sp>
      <p:sp>
        <p:nvSpPr>
          <p:cNvPr id="381" name="Google Shape;381;p41"/>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382" name="Google Shape;382;p41"/>
          <p:cNvSpPr txBox="1">
            <a:spLocks noGrp="1"/>
          </p:cNvSpPr>
          <p:nvPr>
            <p:ph type="subTitle" idx="4"/>
          </p:nvPr>
        </p:nvSpPr>
        <p:spPr>
          <a:xfrm>
            <a:off x="713075" y="3120353"/>
            <a:ext cx="21456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Tumelo Seleka</a:t>
            </a:r>
            <a:endParaRPr dirty="0"/>
          </a:p>
        </p:txBody>
      </p:sp>
      <p:sp>
        <p:nvSpPr>
          <p:cNvPr id="383" name="Google Shape;383;p41"/>
          <p:cNvSpPr txBox="1">
            <a:spLocks noGrp="1"/>
          </p:cNvSpPr>
          <p:nvPr>
            <p:ph type="subTitle" idx="5"/>
          </p:nvPr>
        </p:nvSpPr>
        <p:spPr>
          <a:xfrm>
            <a:off x="3501546" y="3848412"/>
            <a:ext cx="2145600" cy="52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ZA" dirty="0"/>
              <a:t>Role: Research Specialist &amp; Content Development</a:t>
            </a:r>
            <a:endParaRPr dirty="0"/>
          </a:p>
        </p:txBody>
      </p:sp>
      <p:sp>
        <p:nvSpPr>
          <p:cNvPr id="384" name="Google Shape;384;p41"/>
          <p:cNvSpPr txBox="1">
            <a:spLocks noGrp="1"/>
          </p:cNvSpPr>
          <p:nvPr>
            <p:ph type="subTitle" idx="6"/>
          </p:nvPr>
        </p:nvSpPr>
        <p:spPr>
          <a:xfrm>
            <a:off x="3527108" y="3117277"/>
            <a:ext cx="21456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Okuhle Madikwa</a:t>
            </a:r>
            <a:endParaRPr dirty="0"/>
          </a:p>
        </p:txBody>
      </p:sp>
      <p:sp>
        <p:nvSpPr>
          <p:cNvPr id="385" name="Google Shape;385;p41"/>
          <p:cNvSpPr txBox="1">
            <a:spLocks noGrp="1"/>
          </p:cNvSpPr>
          <p:nvPr>
            <p:ph type="subTitle" idx="7"/>
          </p:nvPr>
        </p:nvSpPr>
        <p:spPr>
          <a:xfrm>
            <a:off x="6203585" y="3844240"/>
            <a:ext cx="2145600" cy="523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ZA" dirty="0"/>
              <a:t>Role: Visual Design &amp; Creative Elements</a:t>
            </a:r>
            <a:endParaRPr dirty="0"/>
          </a:p>
        </p:txBody>
      </p:sp>
      <p:sp>
        <p:nvSpPr>
          <p:cNvPr id="386" name="Google Shape;386;p41"/>
          <p:cNvSpPr txBox="1">
            <a:spLocks noGrp="1"/>
          </p:cNvSpPr>
          <p:nvPr>
            <p:ph type="subTitle" idx="8"/>
          </p:nvPr>
        </p:nvSpPr>
        <p:spPr>
          <a:xfrm>
            <a:off x="6285327" y="3120353"/>
            <a:ext cx="2407009"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Boitumelo Tsotetsi</a:t>
            </a:r>
            <a:endParaRPr dirty="0"/>
          </a:p>
        </p:txBody>
      </p:sp>
      <p:sp>
        <p:nvSpPr>
          <p:cNvPr id="390" name="Google Shape;390;p41"/>
          <p:cNvSpPr/>
          <p:nvPr/>
        </p:nvSpPr>
        <p:spPr>
          <a:xfrm rot="-3253444">
            <a:off x="1207343" y="1892504"/>
            <a:ext cx="1145124" cy="1211806"/>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91" name="Google Shape;391;p41"/>
          <p:cNvSpPr/>
          <p:nvPr/>
        </p:nvSpPr>
        <p:spPr>
          <a:xfrm rot="-6821403" flipH="1">
            <a:off x="4034880" y="1945598"/>
            <a:ext cx="1130056" cy="1046298"/>
          </a:xfrm>
          <a:prstGeom prst="ellipse">
            <a:avLst/>
          </a:prstGeom>
          <a:gradFill>
            <a:gsLst>
              <a:gs pos="0">
                <a:srgbClr val="FFFFFF">
                  <a:alpha val="0"/>
                  <a:alpha val="20540"/>
                </a:srgbClr>
              </a:gs>
              <a:gs pos="100000">
                <a:srgbClr val="CC527A">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41"/>
          <p:cNvSpPr/>
          <p:nvPr/>
        </p:nvSpPr>
        <p:spPr>
          <a:xfrm rot="-8100000" flipH="1">
            <a:off x="6484147" y="1919772"/>
            <a:ext cx="1133925" cy="1097955"/>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0"/>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5</a:t>
            </a:fld>
            <a:endParaRPr/>
          </a:p>
        </p:txBody>
      </p:sp>
      <p:sp>
        <p:nvSpPr>
          <p:cNvPr id="368" name="Google Shape;368;p40"/>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369" name="Google Shape;369;p40"/>
          <p:cNvSpPr txBox="1">
            <a:spLocks noGrp="1"/>
          </p:cNvSpPr>
          <p:nvPr>
            <p:ph type="title"/>
          </p:nvPr>
        </p:nvSpPr>
        <p:spPr>
          <a:xfrm>
            <a:off x="995877" y="99638"/>
            <a:ext cx="7717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ea typeface="+mj-lt"/>
                <a:cs typeface="+mj-lt"/>
              </a:rPr>
              <a:t>Challenge definition: GBV </a:t>
            </a:r>
            <a:br>
              <a:rPr lang="en-US" b="0" dirty="0">
                <a:ea typeface="+mj-lt"/>
                <a:cs typeface="+mj-lt"/>
              </a:rPr>
            </a:br>
            <a:r>
              <a:rPr lang="en-US" b="0" dirty="0">
                <a:ea typeface="+mj-lt"/>
                <a:cs typeface="+mj-lt"/>
              </a:rPr>
              <a:t>in South Africa</a:t>
            </a:r>
            <a:endParaRPr dirty="0"/>
          </a:p>
        </p:txBody>
      </p:sp>
      <p:sp>
        <p:nvSpPr>
          <p:cNvPr id="370" name="Google Shape;370;p40"/>
          <p:cNvSpPr txBox="1">
            <a:spLocks noGrp="1"/>
          </p:cNvSpPr>
          <p:nvPr>
            <p:ph type="subTitle" idx="1"/>
          </p:nvPr>
        </p:nvSpPr>
        <p:spPr>
          <a:xfrm>
            <a:off x="3331800" y="48497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372" name="Google Shape;372;p40"/>
          <p:cNvSpPr/>
          <p:nvPr/>
        </p:nvSpPr>
        <p:spPr>
          <a:xfrm rot="6775818" flipH="1">
            <a:off x="6999289" y="2686652"/>
            <a:ext cx="3036875" cy="3036875"/>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355;p39">
            <a:extLst>
              <a:ext uri="{FF2B5EF4-FFF2-40B4-BE49-F238E27FC236}">
                <a16:creationId xmlns:a16="http://schemas.microsoft.com/office/drawing/2014/main" id="{E5A00C3A-36C8-E4EC-CABF-B756972787BA}"/>
              </a:ext>
            </a:extLst>
          </p:cNvPr>
          <p:cNvSpPr/>
          <p:nvPr/>
        </p:nvSpPr>
        <p:spPr>
          <a:xfrm>
            <a:off x="-162110" y="-34694"/>
            <a:ext cx="1169400" cy="1169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58;p39">
            <a:extLst>
              <a:ext uri="{FF2B5EF4-FFF2-40B4-BE49-F238E27FC236}">
                <a16:creationId xmlns:a16="http://schemas.microsoft.com/office/drawing/2014/main" id="{85BAA043-7D4F-C48A-66B4-00B4C77CB254}"/>
              </a:ext>
            </a:extLst>
          </p:cNvPr>
          <p:cNvSpPr txBox="1">
            <a:spLocks/>
          </p:cNvSpPr>
          <p:nvPr/>
        </p:nvSpPr>
        <p:spPr>
          <a:xfrm>
            <a:off x="-162110" y="219446"/>
            <a:ext cx="1027200" cy="771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1pPr>
            <a:lvl2pPr marL="914400" marR="0" lvl="1"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2pPr>
            <a:lvl3pPr marL="1371600" marR="0" lvl="2"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3pPr>
            <a:lvl4pPr marL="1828800" marR="0" lvl="3"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4pPr>
            <a:lvl5pPr marL="2286000" marR="0" lvl="4"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5pPr>
            <a:lvl6pPr marL="2743200" marR="0" lvl="5"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6pPr>
            <a:lvl7pPr marL="3200400" marR="0" lvl="6"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7pPr>
            <a:lvl8pPr marL="3657600" marR="0" lvl="7"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8pPr>
            <a:lvl9pPr marL="4114800" marR="0" lvl="8"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9pPr>
          </a:lstStyle>
          <a:p>
            <a:pPr marL="0" indent="0" algn="ctr"/>
            <a:r>
              <a:rPr lang="en" sz="3600" dirty="0">
                <a:latin typeface="Poppins SemiBold" panose="00000700000000000000" pitchFamily="2" charset="0"/>
                <a:cs typeface="Poppins SemiBold" panose="00000700000000000000" pitchFamily="2" charset="0"/>
              </a:rPr>
              <a:t>02</a:t>
            </a:r>
          </a:p>
        </p:txBody>
      </p:sp>
      <p:sp>
        <p:nvSpPr>
          <p:cNvPr id="5" name="Flowchart: Alternate Process 4">
            <a:extLst>
              <a:ext uri="{FF2B5EF4-FFF2-40B4-BE49-F238E27FC236}">
                <a16:creationId xmlns:a16="http://schemas.microsoft.com/office/drawing/2014/main" id="{6685A2EE-ADD3-1E2B-8B11-7C600F9F6887}"/>
              </a:ext>
            </a:extLst>
          </p:cNvPr>
          <p:cNvSpPr/>
          <p:nvPr/>
        </p:nvSpPr>
        <p:spPr>
          <a:xfrm>
            <a:off x="0" y="1331098"/>
            <a:ext cx="3916571" cy="1920409"/>
          </a:xfrm>
          <a:prstGeom prst="flowChartAlternateProcess">
            <a:avLst/>
          </a:prstGeom>
          <a:solidFill>
            <a:schemeClr val="accent1">
              <a:alpha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6" name="Flowchart: Alternate Process 5">
            <a:extLst>
              <a:ext uri="{FF2B5EF4-FFF2-40B4-BE49-F238E27FC236}">
                <a16:creationId xmlns:a16="http://schemas.microsoft.com/office/drawing/2014/main" id="{E35C82C0-3474-A180-54E0-4802A0D87AAD}"/>
              </a:ext>
            </a:extLst>
          </p:cNvPr>
          <p:cNvSpPr/>
          <p:nvPr/>
        </p:nvSpPr>
        <p:spPr>
          <a:xfrm>
            <a:off x="3938562" y="2589848"/>
            <a:ext cx="3386872" cy="1966714"/>
          </a:xfrm>
          <a:prstGeom prst="flowChartAlternateProcess">
            <a:avLst/>
          </a:prstGeom>
          <a:solidFill>
            <a:schemeClr val="accent1">
              <a:alpha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TextBox 6">
            <a:extLst>
              <a:ext uri="{FF2B5EF4-FFF2-40B4-BE49-F238E27FC236}">
                <a16:creationId xmlns:a16="http://schemas.microsoft.com/office/drawing/2014/main" id="{96A27088-2E32-092C-34A7-BF632012CA84}"/>
              </a:ext>
            </a:extLst>
          </p:cNvPr>
          <p:cNvSpPr txBox="1"/>
          <p:nvPr/>
        </p:nvSpPr>
        <p:spPr>
          <a:xfrm>
            <a:off x="58870" y="1356838"/>
            <a:ext cx="3699914" cy="738664"/>
          </a:xfrm>
          <a:prstGeom prst="rect">
            <a:avLst/>
          </a:prstGeom>
          <a:noFill/>
        </p:spPr>
        <p:txBody>
          <a:bodyPr wrap="square" rtlCol="0">
            <a:spAutoFit/>
          </a:bodyPr>
          <a:lstStyle/>
          <a:p>
            <a:r>
              <a:rPr lang="en-US" dirty="0">
                <a:solidFill>
                  <a:schemeClr val="accent6">
                    <a:lumMod val="95000"/>
                  </a:schemeClr>
                </a:solidFill>
              </a:rPr>
              <a:t>GBV is violence that targets a person based on their gender or that disproportionately impacts people of a specific gender.</a:t>
            </a:r>
          </a:p>
        </p:txBody>
      </p:sp>
      <p:sp>
        <p:nvSpPr>
          <p:cNvPr id="8" name="TextBox 7">
            <a:extLst>
              <a:ext uri="{FF2B5EF4-FFF2-40B4-BE49-F238E27FC236}">
                <a16:creationId xmlns:a16="http://schemas.microsoft.com/office/drawing/2014/main" id="{0D9A4C8C-B705-3AAA-2047-D72D77C5890D}"/>
              </a:ext>
            </a:extLst>
          </p:cNvPr>
          <p:cNvSpPr txBox="1"/>
          <p:nvPr/>
        </p:nvSpPr>
        <p:spPr>
          <a:xfrm>
            <a:off x="58870" y="2081973"/>
            <a:ext cx="3464057" cy="1195274"/>
          </a:xfrm>
          <a:prstGeom prst="rect">
            <a:avLst/>
          </a:prstGeom>
          <a:noFill/>
        </p:spPr>
        <p:txBody>
          <a:bodyPr wrap="square" rtlCol="0">
            <a:spAutoFit/>
          </a:bodyPr>
          <a:lstStyle/>
          <a:p>
            <a:r>
              <a:rPr lang="en-US" dirty="0">
                <a:solidFill>
                  <a:schemeClr val="accent6">
                    <a:lumMod val="95000"/>
                  </a:schemeClr>
                </a:solidFill>
              </a:rPr>
              <a:t>According to the World Health </a:t>
            </a:r>
            <a:r>
              <a:rPr lang="en-US">
                <a:solidFill>
                  <a:schemeClr val="accent6">
                    <a:lumMod val="95000"/>
                  </a:schemeClr>
                </a:solidFill>
              </a:rPr>
              <a:t>Organization, South </a:t>
            </a:r>
            <a:r>
              <a:rPr lang="en-US" dirty="0">
                <a:solidFill>
                  <a:schemeClr val="accent6">
                    <a:lumMod val="95000"/>
                  </a:schemeClr>
                </a:solidFill>
              </a:rPr>
              <a:t>Africa has the highest stats for GBV in the world. 1 in 3 women has experienced physical or sexual violence in her lifetime.</a:t>
            </a:r>
            <a:endParaRPr lang="en-ZA" dirty="0">
              <a:solidFill>
                <a:schemeClr val="accent6">
                  <a:lumMod val="95000"/>
                </a:schemeClr>
              </a:solidFill>
            </a:endParaRPr>
          </a:p>
        </p:txBody>
      </p:sp>
      <p:sp>
        <p:nvSpPr>
          <p:cNvPr id="10" name="TextBox 9">
            <a:extLst>
              <a:ext uri="{FF2B5EF4-FFF2-40B4-BE49-F238E27FC236}">
                <a16:creationId xmlns:a16="http://schemas.microsoft.com/office/drawing/2014/main" id="{C4F58E5C-2791-14DA-EF6B-12E03ECB7C6C}"/>
              </a:ext>
            </a:extLst>
          </p:cNvPr>
          <p:cNvSpPr txBox="1"/>
          <p:nvPr/>
        </p:nvSpPr>
        <p:spPr>
          <a:xfrm>
            <a:off x="4046801" y="2589848"/>
            <a:ext cx="2649207" cy="307501"/>
          </a:xfrm>
          <a:prstGeom prst="rect">
            <a:avLst/>
          </a:prstGeom>
          <a:noFill/>
        </p:spPr>
        <p:txBody>
          <a:bodyPr wrap="square" rtlCol="0">
            <a:spAutoFit/>
          </a:bodyPr>
          <a:lstStyle/>
          <a:p>
            <a:r>
              <a:rPr lang="en-US" dirty="0">
                <a:solidFill>
                  <a:schemeClr val="accent6">
                    <a:lumMod val="95000"/>
                  </a:schemeClr>
                </a:solidFill>
              </a:rPr>
              <a:t>Causes for GBV are:</a:t>
            </a:r>
          </a:p>
        </p:txBody>
      </p:sp>
      <p:sp>
        <p:nvSpPr>
          <p:cNvPr id="11" name="TextBox 10">
            <a:extLst>
              <a:ext uri="{FF2B5EF4-FFF2-40B4-BE49-F238E27FC236}">
                <a16:creationId xmlns:a16="http://schemas.microsoft.com/office/drawing/2014/main" id="{B2812C83-016B-6477-2CE4-1C76B43EA459}"/>
              </a:ext>
            </a:extLst>
          </p:cNvPr>
          <p:cNvSpPr txBox="1"/>
          <p:nvPr/>
        </p:nvSpPr>
        <p:spPr>
          <a:xfrm>
            <a:off x="3946054" y="2936558"/>
            <a:ext cx="3386872" cy="1600438"/>
          </a:xfrm>
          <a:prstGeom prst="rect">
            <a:avLst/>
          </a:prstGeom>
          <a:noFill/>
        </p:spPr>
        <p:txBody>
          <a:bodyPr wrap="square" rtlCol="0">
            <a:spAutoFit/>
          </a:bodyPr>
          <a:lstStyle/>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rPr>
              <a:t>Unequal power dynamics between genders</a:t>
            </a: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rPr>
              <a:t>Substance abuse</a:t>
            </a: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rPr>
              <a:t>Negative gender stereotypes</a:t>
            </a: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rPr>
              <a:t>Lack of social and emotional support</a:t>
            </a: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rPr>
              <a:t>Mental health and psychological factors</a:t>
            </a:r>
          </a:p>
        </p:txBody>
      </p:sp>
      <p:pic>
        <p:nvPicPr>
          <p:cNvPr id="13" name="Picture 12">
            <a:extLst>
              <a:ext uri="{FF2B5EF4-FFF2-40B4-BE49-F238E27FC236}">
                <a16:creationId xmlns:a16="http://schemas.microsoft.com/office/drawing/2014/main" id="{23B4F668-DBF4-DDFA-4CBB-9FD4F002CB06}"/>
              </a:ext>
            </a:extLst>
          </p:cNvPr>
          <p:cNvPicPr>
            <a:picLocks noChangeAspect="1"/>
          </p:cNvPicPr>
          <p:nvPr/>
        </p:nvPicPr>
        <p:blipFill>
          <a:blip r:embed="rId3"/>
          <a:stretch>
            <a:fillRect/>
          </a:stretch>
        </p:blipFill>
        <p:spPr>
          <a:xfrm>
            <a:off x="6568465" y="-272"/>
            <a:ext cx="2738648" cy="2897621"/>
          </a:xfrm>
          <a:prstGeom prst="ellipse">
            <a:avLst/>
          </a:prstGeom>
          <a:ln>
            <a:noFill/>
          </a:ln>
          <a:effectLst>
            <a:softEdge rad="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2"/>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6</a:t>
            </a:fld>
            <a:endParaRPr/>
          </a:p>
        </p:txBody>
      </p:sp>
      <p:sp>
        <p:nvSpPr>
          <p:cNvPr id="398" name="Google Shape;398;p42"/>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399" name="Google Shape;399;p42"/>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401" name="Google Shape;401;p42"/>
          <p:cNvSpPr txBox="1">
            <a:spLocks noGrp="1"/>
          </p:cNvSpPr>
          <p:nvPr>
            <p:ph type="title"/>
          </p:nvPr>
        </p:nvSpPr>
        <p:spPr>
          <a:xfrm>
            <a:off x="6193902" y="0"/>
            <a:ext cx="27159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Proposed Solution </a:t>
            </a:r>
            <a:endParaRPr dirty="0"/>
          </a:p>
        </p:txBody>
      </p:sp>
      <p:sp>
        <p:nvSpPr>
          <p:cNvPr id="403" name="Google Shape;403;p42"/>
          <p:cNvSpPr/>
          <p:nvPr/>
        </p:nvSpPr>
        <p:spPr>
          <a:xfrm rot="-4377032" flipH="1">
            <a:off x="-261132" y="2664466"/>
            <a:ext cx="3036864" cy="3036864"/>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Google Shape;355;p39">
            <a:extLst>
              <a:ext uri="{FF2B5EF4-FFF2-40B4-BE49-F238E27FC236}">
                <a16:creationId xmlns:a16="http://schemas.microsoft.com/office/drawing/2014/main" id="{D2479CFE-A36D-636B-66D3-92667206F156}"/>
              </a:ext>
            </a:extLst>
          </p:cNvPr>
          <p:cNvSpPr/>
          <p:nvPr/>
        </p:nvSpPr>
        <p:spPr>
          <a:xfrm>
            <a:off x="4830291" y="-8700"/>
            <a:ext cx="1166649" cy="11059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58;p39">
            <a:extLst>
              <a:ext uri="{FF2B5EF4-FFF2-40B4-BE49-F238E27FC236}">
                <a16:creationId xmlns:a16="http://schemas.microsoft.com/office/drawing/2014/main" id="{FEE67625-D11C-1811-36A3-0F5DB6578012}"/>
              </a:ext>
            </a:extLst>
          </p:cNvPr>
          <p:cNvSpPr txBox="1">
            <a:spLocks/>
          </p:cNvSpPr>
          <p:nvPr/>
        </p:nvSpPr>
        <p:spPr>
          <a:xfrm>
            <a:off x="4830291" y="158790"/>
            <a:ext cx="1027200" cy="771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1pPr>
            <a:lvl2pPr marL="914400" marR="0" lvl="1"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2pPr>
            <a:lvl3pPr marL="1371600" marR="0" lvl="2"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3pPr>
            <a:lvl4pPr marL="1828800" marR="0" lvl="3"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4pPr>
            <a:lvl5pPr marL="2286000" marR="0" lvl="4"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5pPr>
            <a:lvl6pPr marL="2743200" marR="0" lvl="5"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6pPr>
            <a:lvl7pPr marL="3200400" marR="0" lvl="6"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7pPr>
            <a:lvl8pPr marL="3657600" marR="0" lvl="7"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8pPr>
            <a:lvl9pPr marL="4114800" marR="0" lvl="8"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9pPr>
          </a:lstStyle>
          <a:p>
            <a:pPr marL="0" indent="0" algn="ctr"/>
            <a:r>
              <a:rPr lang="en" sz="3600" dirty="0">
                <a:latin typeface="Poppins SemiBold" panose="00000700000000000000" pitchFamily="2" charset="0"/>
                <a:cs typeface="Poppins SemiBold" panose="00000700000000000000" pitchFamily="2" charset="0"/>
              </a:rPr>
              <a:t>03</a:t>
            </a:r>
          </a:p>
        </p:txBody>
      </p:sp>
      <p:pic>
        <p:nvPicPr>
          <p:cNvPr id="6" name="Picture 5" descr="A logo for a safe circle&#10;&#10;AI-generated content may be incorrect.">
            <a:extLst>
              <a:ext uri="{FF2B5EF4-FFF2-40B4-BE49-F238E27FC236}">
                <a16:creationId xmlns:a16="http://schemas.microsoft.com/office/drawing/2014/main" id="{6995E57D-7BB5-4F08-EDFE-8D9BA92AE6CD}"/>
              </a:ext>
            </a:extLst>
          </p:cNvPr>
          <p:cNvPicPr>
            <a:picLocks noChangeAspect="1"/>
          </p:cNvPicPr>
          <p:nvPr/>
        </p:nvPicPr>
        <p:blipFill>
          <a:blip r:embed="rId3"/>
          <a:stretch>
            <a:fillRect/>
          </a:stretch>
        </p:blipFill>
        <p:spPr>
          <a:xfrm>
            <a:off x="0" y="2865120"/>
            <a:ext cx="2514600" cy="2514600"/>
          </a:xfrm>
          <a:prstGeom prst="ellipse">
            <a:avLst/>
          </a:prstGeom>
          <a:ln>
            <a:noFill/>
          </a:ln>
          <a:effectLst>
            <a:softEdge rad="0"/>
          </a:effectLst>
        </p:spPr>
      </p:pic>
      <p:sp>
        <p:nvSpPr>
          <p:cNvPr id="4" name="Flowchart: Alternate Process 3">
            <a:extLst>
              <a:ext uri="{FF2B5EF4-FFF2-40B4-BE49-F238E27FC236}">
                <a16:creationId xmlns:a16="http://schemas.microsoft.com/office/drawing/2014/main" id="{95BFB5CA-F311-A589-146F-E83DC9BF887D}"/>
              </a:ext>
            </a:extLst>
          </p:cNvPr>
          <p:cNvSpPr/>
          <p:nvPr/>
        </p:nvSpPr>
        <p:spPr>
          <a:xfrm>
            <a:off x="137525" y="219446"/>
            <a:ext cx="3916571" cy="1920409"/>
          </a:xfrm>
          <a:prstGeom prst="flowChartAlternateProcess">
            <a:avLst/>
          </a:prstGeom>
          <a:solidFill>
            <a:schemeClr val="accent1">
              <a:alpha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 name="Flowchart: Alternate Process 4">
            <a:extLst>
              <a:ext uri="{FF2B5EF4-FFF2-40B4-BE49-F238E27FC236}">
                <a16:creationId xmlns:a16="http://schemas.microsoft.com/office/drawing/2014/main" id="{46AC1DF6-03A9-3AF7-6F9B-F4E1E96D94ED}"/>
              </a:ext>
            </a:extLst>
          </p:cNvPr>
          <p:cNvSpPr/>
          <p:nvPr/>
        </p:nvSpPr>
        <p:spPr>
          <a:xfrm>
            <a:off x="3692923" y="2129205"/>
            <a:ext cx="3916571" cy="1920409"/>
          </a:xfrm>
          <a:prstGeom prst="flowChartAlternateProcess">
            <a:avLst/>
          </a:prstGeom>
          <a:solidFill>
            <a:schemeClr val="accent1">
              <a:alpha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8" name="TextBox 7">
            <a:extLst>
              <a:ext uri="{FF2B5EF4-FFF2-40B4-BE49-F238E27FC236}">
                <a16:creationId xmlns:a16="http://schemas.microsoft.com/office/drawing/2014/main" id="{8276AFE1-0BDE-D37F-557E-90DFA7D2CAE0}"/>
              </a:ext>
            </a:extLst>
          </p:cNvPr>
          <p:cNvSpPr txBox="1"/>
          <p:nvPr/>
        </p:nvSpPr>
        <p:spPr>
          <a:xfrm>
            <a:off x="475785" y="288000"/>
            <a:ext cx="3323063" cy="738664"/>
          </a:xfrm>
          <a:prstGeom prst="rect">
            <a:avLst/>
          </a:prstGeom>
          <a:noFill/>
        </p:spPr>
        <p:txBody>
          <a:bodyPr wrap="square" rtlCol="0">
            <a:spAutoFit/>
          </a:bodyPr>
          <a:lstStyle/>
          <a:p>
            <a:r>
              <a:rPr lang="en-US" dirty="0">
                <a:solidFill>
                  <a:schemeClr val="accent2"/>
                </a:solidFill>
                <a:latin typeface="Poppins" panose="00000500000000000000" pitchFamily="2" charset="0"/>
                <a:cs typeface="Poppins" panose="00000500000000000000" pitchFamily="2" charset="0"/>
              </a:rPr>
              <a:t>Objective</a:t>
            </a:r>
            <a:r>
              <a:rPr lang="en-US" dirty="0">
                <a:solidFill>
                  <a:schemeClr val="accent2"/>
                </a:solidFill>
              </a:rPr>
              <a:t>:</a:t>
            </a:r>
            <a:r>
              <a:rPr lang="en-US" dirty="0"/>
              <a:t> </a:t>
            </a:r>
            <a:r>
              <a:rPr lang="en-US" dirty="0">
                <a:solidFill>
                  <a:schemeClr val="accent6">
                    <a:lumMod val="95000"/>
                  </a:schemeClr>
                </a:solidFill>
                <a:latin typeface="Poppins" panose="00000500000000000000" pitchFamily="2" charset="0"/>
                <a:cs typeface="Poppins" panose="00000500000000000000" pitchFamily="2" charset="0"/>
              </a:rPr>
              <a:t>Reduce gender-based violence (GBV) through accessible, real-time support</a:t>
            </a:r>
            <a:endParaRPr lang="en-ZA" dirty="0">
              <a:solidFill>
                <a:schemeClr val="accent6">
                  <a:lumMod val="95000"/>
                </a:schemeClr>
              </a:solidFill>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9611C6E7-BD3C-B725-F69F-C46A56D50E56}"/>
              </a:ext>
            </a:extLst>
          </p:cNvPr>
          <p:cNvSpPr txBox="1"/>
          <p:nvPr/>
        </p:nvSpPr>
        <p:spPr>
          <a:xfrm>
            <a:off x="527824" y="1307112"/>
            <a:ext cx="3092604" cy="523220"/>
          </a:xfrm>
          <a:prstGeom prst="rect">
            <a:avLst/>
          </a:prstGeom>
          <a:noFill/>
        </p:spPr>
        <p:txBody>
          <a:bodyPr wrap="square" rtlCol="0">
            <a:spAutoFit/>
          </a:bodyPr>
          <a:lstStyle/>
          <a:p>
            <a:r>
              <a:rPr lang="en-US" dirty="0">
                <a:solidFill>
                  <a:schemeClr val="accent2"/>
                </a:solidFill>
                <a:latin typeface="Poppins" panose="00000500000000000000" pitchFamily="2" charset="0"/>
                <a:cs typeface="Poppins" panose="00000500000000000000" pitchFamily="2" charset="0"/>
              </a:rPr>
              <a:t>Platform: </a:t>
            </a:r>
            <a:r>
              <a:rPr lang="en-US" dirty="0">
                <a:solidFill>
                  <a:schemeClr val="accent6">
                    <a:lumMod val="95000"/>
                  </a:schemeClr>
                </a:solidFill>
                <a:latin typeface="Poppins" panose="00000500000000000000" pitchFamily="2" charset="0"/>
                <a:cs typeface="Poppins" panose="00000500000000000000" pitchFamily="2" charset="0"/>
              </a:rPr>
              <a:t>Mobile app with built-in safety features</a:t>
            </a:r>
            <a:endParaRPr lang="en-ZA" dirty="0">
              <a:solidFill>
                <a:schemeClr val="accent6">
                  <a:lumMod val="95000"/>
                </a:schemeClr>
              </a:solidFill>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339E5C51-FF79-3C7F-F4EE-DA53902BEE0D}"/>
              </a:ext>
            </a:extLst>
          </p:cNvPr>
          <p:cNvSpPr txBox="1"/>
          <p:nvPr/>
        </p:nvSpPr>
        <p:spPr>
          <a:xfrm>
            <a:off x="3870730" y="2482995"/>
            <a:ext cx="3560956" cy="523220"/>
          </a:xfrm>
          <a:prstGeom prst="rect">
            <a:avLst/>
          </a:prstGeom>
          <a:noFill/>
        </p:spPr>
        <p:txBody>
          <a:bodyPr wrap="square" rtlCol="0">
            <a:spAutoFit/>
          </a:bodyPr>
          <a:lstStyle/>
          <a:p>
            <a:r>
              <a:rPr lang="en-US" dirty="0">
                <a:solidFill>
                  <a:schemeClr val="accent2"/>
                </a:solidFill>
                <a:latin typeface="Poppins" panose="00000500000000000000" pitchFamily="2" charset="0"/>
                <a:cs typeface="Poppins" panose="00000500000000000000" pitchFamily="2" charset="0"/>
              </a:rPr>
              <a:t>Target Users</a:t>
            </a:r>
            <a:r>
              <a:rPr lang="en-US" dirty="0">
                <a:solidFill>
                  <a:schemeClr val="accent6">
                    <a:lumMod val="95000"/>
                  </a:schemeClr>
                </a:solidFill>
                <a:latin typeface="Poppins" panose="00000500000000000000" pitchFamily="2" charset="0"/>
                <a:cs typeface="Poppins" panose="00000500000000000000" pitchFamily="2" charset="0"/>
              </a:rPr>
              <a:t>: </a:t>
            </a:r>
            <a:r>
              <a:rPr lang="en-US" dirty="0">
                <a:solidFill>
                  <a:schemeClr val="accent6">
                    <a:lumMod val="95000"/>
                  </a:schemeClr>
                </a:solidFill>
              </a:rPr>
              <a:t>Victims or potential victims of GBV</a:t>
            </a:r>
            <a:endParaRPr lang="en-ZA" dirty="0">
              <a:solidFill>
                <a:schemeClr val="accent6">
                  <a:lumMod val="95000"/>
                </a:schemeClr>
              </a:solidFill>
            </a:endParaRPr>
          </a:p>
        </p:txBody>
      </p:sp>
      <p:sp>
        <p:nvSpPr>
          <p:cNvPr id="11" name="TextBox 10">
            <a:extLst>
              <a:ext uri="{FF2B5EF4-FFF2-40B4-BE49-F238E27FC236}">
                <a16:creationId xmlns:a16="http://schemas.microsoft.com/office/drawing/2014/main" id="{20A4C239-732B-8269-FE69-798360EB9329}"/>
              </a:ext>
            </a:extLst>
          </p:cNvPr>
          <p:cNvSpPr txBox="1"/>
          <p:nvPr/>
        </p:nvSpPr>
        <p:spPr>
          <a:xfrm>
            <a:off x="3793800" y="3314314"/>
            <a:ext cx="3560956" cy="523220"/>
          </a:xfrm>
          <a:prstGeom prst="rect">
            <a:avLst/>
          </a:prstGeom>
          <a:noFill/>
        </p:spPr>
        <p:txBody>
          <a:bodyPr wrap="square" rtlCol="0">
            <a:spAutoFit/>
          </a:bodyPr>
          <a:lstStyle/>
          <a:p>
            <a:r>
              <a:rPr lang="en-US" dirty="0">
                <a:solidFill>
                  <a:schemeClr val="accent2"/>
                </a:solidFill>
                <a:latin typeface="Poppins" panose="00000500000000000000" pitchFamily="2" charset="0"/>
                <a:cs typeface="Poppins" panose="00000500000000000000" pitchFamily="2" charset="0"/>
              </a:rPr>
              <a:t>Impact: </a:t>
            </a:r>
            <a:r>
              <a:rPr lang="en-US" dirty="0">
                <a:solidFill>
                  <a:schemeClr val="accent6">
                    <a:lumMod val="95000"/>
                  </a:schemeClr>
                </a:solidFill>
              </a:rPr>
              <a:t>Empowers users with tools to act quickly and safely during emergencies</a:t>
            </a:r>
            <a:endParaRPr lang="en-ZA" dirty="0">
              <a:solidFill>
                <a:schemeClr val="accent6">
                  <a:lumMod val="9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43"/>
          <p:cNvSpPr/>
          <p:nvPr/>
        </p:nvSpPr>
        <p:spPr>
          <a:xfrm rot="-5400000">
            <a:off x="-431000" y="3401208"/>
            <a:ext cx="2001600" cy="2001600"/>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3"/>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7</a:t>
            </a:fld>
            <a:endParaRPr/>
          </a:p>
        </p:txBody>
      </p:sp>
      <p:sp>
        <p:nvSpPr>
          <p:cNvPr id="419" name="Google Shape;419;p43"/>
          <p:cNvSpPr txBox="1">
            <a:spLocks noGrp="1"/>
          </p:cNvSpPr>
          <p:nvPr>
            <p:ph type="subTitle" idx="5"/>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420" name="Google Shape;420;p43"/>
          <p:cNvSpPr txBox="1">
            <a:spLocks noGrp="1"/>
          </p:cNvSpPr>
          <p:nvPr>
            <p:ph type="subTitle" idx="6"/>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2" name="Google Shape;355;p39">
            <a:extLst>
              <a:ext uri="{FF2B5EF4-FFF2-40B4-BE49-F238E27FC236}">
                <a16:creationId xmlns:a16="http://schemas.microsoft.com/office/drawing/2014/main" id="{F166A498-E57C-0BAB-ED07-9FA91F34A803}"/>
              </a:ext>
            </a:extLst>
          </p:cNvPr>
          <p:cNvSpPr/>
          <p:nvPr/>
        </p:nvSpPr>
        <p:spPr>
          <a:xfrm>
            <a:off x="141575" y="104619"/>
            <a:ext cx="1169400" cy="1169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358;p39">
            <a:extLst>
              <a:ext uri="{FF2B5EF4-FFF2-40B4-BE49-F238E27FC236}">
                <a16:creationId xmlns:a16="http://schemas.microsoft.com/office/drawing/2014/main" id="{9B43B35E-1C93-0B7C-F687-B70DC0D8F7DE}"/>
              </a:ext>
            </a:extLst>
          </p:cNvPr>
          <p:cNvSpPr txBox="1">
            <a:spLocks/>
          </p:cNvSpPr>
          <p:nvPr/>
        </p:nvSpPr>
        <p:spPr>
          <a:xfrm>
            <a:off x="141575" y="299981"/>
            <a:ext cx="1027200" cy="771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1pPr>
            <a:lvl2pPr marL="914400" marR="0" lvl="1"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2pPr>
            <a:lvl3pPr marL="1371600" marR="0" lvl="2"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3pPr>
            <a:lvl4pPr marL="1828800" marR="0" lvl="3"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4pPr>
            <a:lvl5pPr marL="2286000" marR="0" lvl="4"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5pPr>
            <a:lvl6pPr marL="2743200" marR="0" lvl="5"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6pPr>
            <a:lvl7pPr marL="3200400" marR="0" lvl="6"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7pPr>
            <a:lvl8pPr marL="3657600" marR="0" lvl="7"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8pPr>
            <a:lvl9pPr marL="4114800" marR="0" lvl="8"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9pPr>
          </a:lstStyle>
          <a:p>
            <a:pPr marL="0" indent="0" algn="ctr"/>
            <a:r>
              <a:rPr lang="en" sz="3600" dirty="0">
                <a:latin typeface="Poppins SemiBold" panose="00000700000000000000" pitchFamily="2" charset="0"/>
                <a:cs typeface="Poppins SemiBold" panose="00000700000000000000" pitchFamily="2" charset="0"/>
              </a:rPr>
              <a:t>04</a:t>
            </a:r>
          </a:p>
        </p:txBody>
      </p:sp>
      <p:sp>
        <p:nvSpPr>
          <p:cNvPr id="4" name="Google Shape;438;p44">
            <a:extLst>
              <a:ext uri="{FF2B5EF4-FFF2-40B4-BE49-F238E27FC236}">
                <a16:creationId xmlns:a16="http://schemas.microsoft.com/office/drawing/2014/main" id="{03AE7B43-B824-D92A-859E-424D2EC1B8AC}"/>
              </a:ext>
            </a:extLst>
          </p:cNvPr>
          <p:cNvSpPr txBox="1">
            <a:spLocks noGrp="1"/>
          </p:cNvSpPr>
          <p:nvPr>
            <p:ph type="title"/>
          </p:nvPr>
        </p:nvSpPr>
        <p:spPr>
          <a:xfrm>
            <a:off x="1428530" y="299981"/>
            <a:ext cx="506371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How SafeCircle Works  </a:t>
            </a:r>
            <a:endParaRPr dirty="0"/>
          </a:p>
        </p:txBody>
      </p:sp>
      <p:sp>
        <p:nvSpPr>
          <p:cNvPr id="16" name="Google Shape;320;p37">
            <a:extLst>
              <a:ext uri="{FF2B5EF4-FFF2-40B4-BE49-F238E27FC236}">
                <a16:creationId xmlns:a16="http://schemas.microsoft.com/office/drawing/2014/main" id="{4F7276B2-4AB6-FF56-2E43-BF2E085BB697}"/>
              </a:ext>
            </a:extLst>
          </p:cNvPr>
          <p:cNvSpPr/>
          <p:nvPr/>
        </p:nvSpPr>
        <p:spPr>
          <a:xfrm>
            <a:off x="0" y="1524395"/>
            <a:ext cx="1824679" cy="2200701"/>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 name="Google Shape;320;p37">
            <a:extLst>
              <a:ext uri="{FF2B5EF4-FFF2-40B4-BE49-F238E27FC236}">
                <a16:creationId xmlns:a16="http://schemas.microsoft.com/office/drawing/2014/main" id="{19D4924E-7DA2-18A9-C4A2-A2DD46F960E6}"/>
              </a:ext>
            </a:extLst>
          </p:cNvPr>
          <p:cNvSpPr/>
          <p:nvPr/>
        </p:nvSpPr>
        <p:spPr>
          <a:xfrm>
            <a:off x="2372877" y="1528239"/>
            <a:ext cx="1915811" cy="2200701"/>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8" name="Google Shape;320;p37">
            <a:extLst>
              <a:ext uri="{FF2B5EF4-FFF2-40B4-BE49-F238E27FC236}">
                <a16:creationId xmlns:a16="http://schemas.microsoft.com/office/drawing/2014/main" id="{4CB529B2-6B78-967D-D948-E0DEE0C639CC}"/>
              </a:ext>
            </a:extLst>
          </p:cNvPr>
          <p:cNvSpPr/>
          <p:nvPr/>
        </p:nvSpPr>
        <p:spPr>
          <a:xfrm>
            <a:off x="4822249" y="1524395"/>
            <a:ext cx="1988786" cy="2215407"/>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20;p37">
            <a:extLst>
              <a:ext uri="{FF2B5EF4-FFF2-40B4-BE49-F238E27FC236}">
                <a16:creationId xmlns:a16="http://schemas.microsoft.com/office/drawing/2014/main" id="{A2917831-0CD0-5F5F-3E9A-30617A52FAD2}"/>
              </a:ext>
            </a:extLst>
          </p:cNvPr>
          <p:cNvSpPr/>
          <p:nvPr/>
        </p:nvSpPr>
        <p:spPr>
          <a:xfrm>
            <a:off x="7242997" y="1513885"/>
            <a:ext cx="1901003" cy="2221719"/>
          </a:xfrm>
          <a:prstGeom prst="roundRect">
            <a:avLst>
              <a:gd name="adj" fmla="val 16667"/>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Arrow: Right 19">
            <a:extLst>
              <a:ext uri="{FF2B5EF4-FFF2-40B4-BE49-F238E27FC236}">
                <a16:creationId xmlns:a16="http://schemas.microsoft.com/office/drawing/2014/main" id="{CBF3F4AC-3BA6-FD7D-81D8-B14B24A39A5F}"/>
              </a:ext>
            </a:extLst>
          </p:cNvPr>
          <p:cNvSpPr/>
          <p:nvPr/>
        </p:nvSpPr>
        <p:spPr>
          <a:xfrm>
            <a:off x="1845500" y="2379351"/>
            <a:ext cx="489204" cy="440678"/>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1" name="Arrow: Right 20">
            <a:extLst>
              <a:ext uri="{FF2B5EF4-FFF2-40B4-BE49-F238E27FC236}">
                <a16:creationId xmlns:a16="http://schemas.microsoft.com/office/drawing/2014/main" id="{9E162B8B-8E66-256D-0054-A637C2FD86B2}"/>
              </a:ext>
            </a:extLst>
          </p:cNvPr>
          <p:cNvSpPr/>
          <p:nvPr/>
        </p:nvSpPr>
        <p:spPr>
          <a:xfrm>
            <a:off x="6809296" y="2373112"/>
            <a:ext cx="432581" cy="440678"/>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2" name="Arrow: Right 21">
            <a:extLst>
              <a:ext uri="{FF2B5EF4-FFF2-40B4-BE49-F238E27FC236}">
                <a16:creationId xmlns:a16="http://schemas.microsoft.com/office/drawing/2014/main" id="{A2D62D7D-8A0F-2C4E-525D-50F7C675112E}"/>
              </a:ext>
            </a:extLst>
          </p:cNvPr>
          <p:cNvSpPr/>
          <p:nvPr/>
        </p:nvSpPr>
        <p:spPr>
          <a:xfrm>
            <a:off x="4313386" y="2404406"/>
            <a:ext cx="489204" cy="440678"/>
          </a:xfrm>
          <a:prstGeom prst="rightArrow">
            <a:avLst/>
          </a:prstGeom>
          <a:solidFill>
            <a:schemeClr val="accent1">
              <a:lumMod val="60000"/>
              <a:lumOff val="4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4" name="TextBox 23">
            <a:extLst>
              <a:ext uri="{FF2B5EF4-FFF2-40B4-BE49-F238E27FC236}">
                <a16:creationId xmlns:a16="http://schemas.microsoft.com/office/drawing/2014/main" id="{8B8A1C5D-471F-3D9D-4890-ED03522CF9C5}"/>
              </a:ext>
            </a:extLst>
          </p:cNvPr>
          <p:cNvSpPr txBox="1"/>
          <p:nvPr/>
        </p:nvSpPr>
        <p:spPr>
          <a:xfrm>
            <a:off x="335196" y="1585428"/>
            <a:ext cx="1786441" cy="523220"/>
          </a:xfrm>
          <a:prstGeom prst="rect">
            <a:avLst/>
          </a:prstGeom>
          <a:noFill/>
        </p:spPr>
        <p:txBody>
          <a:bodyPr wrap="square" rtlCol="0">
            <a:spAutoFit/>
          </a:bodyPr>
          <a:lstStyle/>
          <a:p>
            <a:r>
              <a:rPr lang="en-ZA" b="1" dirty="0">
                <a:solidFill>
                  <a:schemeClr val="accent2"/>
                </a:solidFill>
                <a:effectLst/>
              </a:rPr>
              <a:t>User Profiling </a:t>
            </a:r>
          </a:p>
          <a:p>
            <a:r>
              <a:rPr lang="en-ZA" b="1" dirty="0">
                <a:solidFill>
                  <a:schemeClr val="accent2"/>
                </a:solidFill>
                <a:effectLst/>
              </a:rPr>
              <a:t>&amp; Registration</a:t>
            </a:r>
            <a:endParaRPr lang="en-ZA" dirty="0">
              <a:solidFill>
                <a:schemeClr val="accent2"/>
              </a:solidFill>
            </a:endParaRPr>
          </a:p>
        </p:txBody>
      </p:sp>
      <p:sp>
        <p:nvSpPr>
          <p:cNvPr id="25" name="TextBox 24">
            <a:extLst>
              <a:ext uri="{FF2B5EF4-FFF2-40B4-BE49-F238E27FC236}">
                <a16:creationId xmlns:a16="http://schemas.microsoft.com/office/drawing/2014/main" id="{AAC49E39-432C-4C0F-A775-55D32174D544}"/>
              </a:ext>
            </a:extLst>
          </p:cNvPr>
          <p:cNvSpPr txBox="1"/>
          <p:nvPr/>
        </p:nvSpPr>
        <p:spPr>
          <a:xfrm>
            <a:off x="2307887" y="1626339"/>
            <a:ext cx="2127225" cy="533150"/>
          </a:xfrm>
          <a:prstGeom prst="rect">
            <a:avLst/>
          </a:prstGeom>
          <a:noFill/>
        </p:spPr>
        <p:txBody>
          <a:bodyPr wrap="square" rtlCol="0">
            <a:spAutoFit/>
          </a:bodyPr>
          <a:lstStyle/>
          <a:p>
            <a:r>
              <a:rPr lang="en-ZA" b="1" dirty="0">
                <a:solidFill>
                  <a:schemeClr val="accent2"/>
                </a:solidFill>
                <a:effectLst/>
              </a:rPr>
              <a:t>SOS Emergency Button &amp; Alert System</a:t>
            </a:r>
            <a:endParaRPr lang="en-ZA" dirty="0">
              <a:solidFill>
                <a:schemeClr val="accent2"/>
              </a:solidFill>
            </a:endParaRPr>
          </a:p>
        </p:txBody>
      </p:sp>
      <p:sp>
        <p:nvSpPr>
          <p:cNvPr id="26" name="TextBox 25">
            <a:extLst>
              <a:ext uri="{FF2B5EF4-FFF2-40B4-BE49-F238E27FC236}">
                <a16:creationId xmlns:a16="http://schemas.microsoft.com/office/drawing/2014/main" id="{D9E5EA20-D26C-F625-F02E-C2B55D9A579A}"/>
              </a:ext>
            </a:extLst>
          </p:cNvPr>
          <p:cNvSpPr txBox="1"/>
          <p:nvPr/>
        </p:nvSpPr>
        <p:spPr>
          <a:xfrm>
            <a:off x="2382889" y="2159489"/>
            <a:ext cx="1876186" cy="1651918"/>
          </a:xfrm>
          <a:prstGeom prst="rect">
            <a:avLst/>
          </a:prstGeom>
          <a:noFill/>
        </p:spPr>
        <p:txBody>
          <a:bodyPr wrap="square" rtlCol="0">
            <a:spAutoFit/>
          </a:bodyPr>
          <a:lstStyle/>
          <a:p>
            <a:r>
              <a:rPr lang="en-US" dirty="0">
                <a:solidFill>
                  <a:srgbClr val="FFFFFF"/>
                </a:solidFill>
                <a:effectLst/>
              </a:rPr>
              <a:t>A single-touch emergency alarm that sends location to contacts, triggers silent sound recording, and operates offline</a:t>
            </a:r>
            <a:endParaRPr lang="en-US" dirty="0"/>
          </a:p>
        </p:txBody>
      </p:sp>
      <p:sp>
        <p:nvSpPr>
          <p:cNvPr id="28" name="TextBox 27">
            <a:extLst>
              <a:ext uri="{FF2B5EF4-FFF2-40B4-BE49-F238E27FC236}">
                <a16:creationId xmlns:a16="http://schemas.microsoft.com/office/drawing/2014/main" id="{C0068C02-B312-ADAC-98CF-28B291975AE0}"/>
              </a:ext>
            </a:extLst>
          </p:cNvPr>
          <p:cNvSpPr txBox="1"/>
          <p:nvPr/>
        </p:nvSpPr>
        <p:spPr>
          <a:xfrm>
            <a:off x="1245650" y="936501"/>
            <a:ext cx="5063709" cy="307777"/>
          </a:xfrm>
          <a:prstGeom prst="rect">
            <a:avLst/>
          </a:prstGeom>
          <a:noFill/>
        </p:spPr>
        <p:txBody>
          <a:bodyPr wrap="square">
            <a:spAutoFit/>
          </a:bodyPr>
          <a:lstStyle/>
          <a:p>
            <a:r>
              <a:rPr lang="en-US" sz="1400" dirty="0">
                <a:solidFill>
                  <a:schemeClr val="accent6">
                    <a:lumMod val="95000"/>
                  </a:schemeClr>
                </a:solidFill>
                <a:ea typeface="+mn-lt"/>
                <a:cs typeface="+mn-lt"/>
              </a:rPr>
              <a:t>The system operates through four interconnected elements:</a:t>
            </a:r>
            <a:endParaRPr lang="en-ZA" dirty="0">
              <a:solidFill>
                <a:schemeClr val="accent6">
                  <a:lumMod val="95000"/>
                </a:schemeClr>
              </a:solidFill>
            </a:endParaRPr>
          </a:p>
        </p:txBody>
      </p:sp>
      <p:sp>
        <p:nvSpPr>
          <p:cNvPr id="29" name="TextBox 28">
            <a:extLst>
              <a:ext uri="{FF2B5EF4-FFF2-40B4-BE49-F238E27FC236}">
                <a16:creationId xmlns:a16="http://schemas.microsoft.com/office/drawing/2014/main" id="{DC741D23-BC26-7818-7CB5-BDC843FE673D}"/>
              </a:ext>
            </a:extLst>
          </p:cNvPr>
          <p:cNvSpPr txBox="1"/>
          <p:nvPr/>
        </p:nvSpPr>
        <p:spPr>
          <a:xfrm>
            <a:off x="1863" y="2200341"/>
            <a:ext cx="2001600" cy="1600438"/>
          </a:xfrm>
          <a:prstGeom prst="rect">
            <a:avLst/>
          </a:prstGeom>
          <a:noFill/>
        </p:spPr>
        <p:txBody>
          <a:bodyPr wrap="square" rtlCol="0">
            <a:spAutoFit/>
          </a:bodyPr>
          <a:lstStyle/>
          <a:p>
            <a:r>
              <a:rPr lang="en-US" dirty="0">
                <a:solidFill>
                  <a:srgbClr val="FFFFFF"/>
                </a:solidFill>
                <a:effectLst/>
              </a:rPr>
              <a:t>Users can register anonymously or as verified users through a personalized safety profile tailored to their specific needs.</a:t>
            </a:r>
            <a:endParaRPr lang="en-US" dirty="0"/>
          </a:p>
          <a:p>
            <a:endParaRPr lang="en-US" dirty="0">
              <a:solidFill>
                <a:schemeClr val="tx1">
                  <a:lumMod val="49000"/>
                </a:schemeClr>
              </a:solidFill>
              <a:ea typeface="+mn-lt"/>
              <a:cs typeface="+mn-lt"/>
            </a:endParaRPr>
          </a:p>
        </p:txBody>
      </p:sp>
      <p:sp>
        <p:nvSpPr>
          <p:cNvPr id="30" name="TextBox 29">
            <a:extLst>
              <a:ext uri="{FF2B5EF4-FFF2-40B4-BE49-F238E27FC236}">
                <a16:creationId xmlns:a16="http://schemas.microsoft.com/office/drawing/2014/main" id="{EF4F0AAA-9D29-D2B2-562C-2DB9FA1FBEDB}"/>
              </a:ext>
            </a:extLst>
          </p:cNvPr>
          <p:cNvSpPr txBox="1"/>
          <p:nvPr/>
        </p:nvSpPr>
        <p:spPr>
          <a:xfrm>
            <a:off x="4777523" y="1597613"/>
            <a:ext cx="2127225" cy="738664"/>
          </a:xfrm>
          <a:prstGeom prst="rect">
            <a:avLst/>
          </a:prstGeom>
          <a:noFill/>
        </p:spPr>
        <p:txBody>
          <a:bodyPr wrap="square" rtlCol="0">
            <a:spAutoFit/>
          </a:bodyPr>
          <a:lstStyle/>
          <a:p>
            <a:r>
              <a:rPr lang="en-ZA" b="1" dirty="0">
                <a:solidFill>
                  <a:schemeClr val="accent2"/>
                </a:solidFill>
                <a:effectLst/>
              </a:rPr>
              <a:t>Anonymous Reporting Procedure</a:t>
            </a:r>
            <a:endParaRPr lang="en-ZA" dirty="0">
              <a:solidFill>
                <a:schemeClr val="accent2"/>
              </a:solidFill>
            </a:endParaRPr>
          </a:p>
          <a:p>
            <a:endParaRPr lang="en-ZA" dirty="0">
              <a:solidFill>
                <a:schemeClr val="accent2"/>
              </a:solidFill>
            </a:endParaRPr>
          </a:p>
        </p:txBody>
      </p:sp>
      <p:sp>
        <p:nvSpPr>
          <p:cNvPr id="31" name="TextBox 30">
            <a:extLst>
              <a:ext uri="{FF2B5EF4-FFF2-40B4-BE49-F238E27FC236}">
                <a16:creationId xmlns:a16="http://schemas.microsoft.com/office/drawing/2014/main" id="{E4DA7F3E-A479-1C96-E5E7-B5BB61040626}"/>
              </a:ext>
            </a:extLst>
          </p:cNvPr>
          <p:cNvSpPr txBox="1"/>
          <p:nvPr/>
        </p:nvSpPr>
        <p:spPr>
          <a:xfrm>
            <a:off x="4845310" y="2285503"/>
            <a:ext cx="1876186" cy="1600438"/>
          </a:xfrm>
          <a:prstGeom prst="rect">
            <a:avLst/>
          </a:prstGeom>
          <a:noFill/>
        </p:spPr>
        <p:txBody>
          <a:bodyPr wrap="square" rtlCol="0">
            <a:spAutoFit/>
          </a:bodyPr>
          <a:lstStyle/>
          <a:p>
            <a:r>
              <a:rPr lang="en-US" dirty="0">
                <a:solidFill>
                  <a:srgbClr val="FFFFFF"/>
                </a:solidFill>
                <a:effectLst/>
              </a:rPr>
              <a:t>A guided reporting process that allows users to submit reports with evidence and secure reporting to authorities.</a:t>
            </a:r>
            <a:endParaRPr lang="en-US" dirty="0"/>
          </a:p>
          <a:p>
            <a:endParaRPr lang="en-US" dirty="0"/>
          </a:p>
        </p:txBody>
      </p:sp>
      <p:sp>
        <p:nvSpPr>
          <p:cNvPr id="32" name="TextBox 31">
            <a:extLst>
              <a:ext uri="{FF2B5EF4-FFF2-40B4-BE49-F238E27FC236}">
                <a16:creationId xmlns:a16="http://schemas.microsoft.com/office/drawing/2014/main" id="{FCE1BBB8-B2D2-0613-6ADF-4637D21291A0}"/>
              </a:ext>
            </a:extLst>
          </p:cNvPr>
          <p:cNvSpPr txBox="1"/>
          <p:nvPr/>
        </p:nvSpPr>
        <p:spPr>
          <a:xfrm>
            <a:off x="7232737" y="1593991"/>
            <a:ext cx="2127225" cy="738664"/>
          </a:xfrm>
          <a:prstGeom prst="rect">
            <a:avLst/>
          </a:prstGeom>
          <a:noFill/>
        </p:spPr>
        <p:txBody>
          <a:bodyPr wrap="square" rtlCol="0">
            <a:spAutoFit/>
          </a:bodyPr>
          <a:lstStyle/>
          <a:p>
            <a:r>
              <a:rPr lang="en-US" b="1" dirty="0">
                <a:solidFill>
                  <a:schemeClr val="accent2"/>
                </a:solidFill>
                <a:effectLst/>
              </a:rPr>
              <a:t>Access to Resources Support Network</a:t>
            </a:r>
            <a:endParaRPr lang="en-US" dirty="0">
              <a:solidFill>
                <a:schemeClr val="accent2"/>
              </a:solidFill>
            </a:endParaRPr>
          </a:p>
          <a:p>
            <a:endParaRPr lang="en-ZA" dirty="0">
              <a:solidFill>
                <a:schemeClr val="accent2"/>
              </a:solidFill>
            </a:endParaRPr>
          </a:p>
        </p:txBody>
      </p:sp>
      <p:sp>
        <p:nvSpPr>
          <p:cNvPr id="33" name="TextBox 32">
            <a:extLst>
              <a:ext uri="{FF2B5EF4-FFF2-40B4-BE49-F238E27FC236}">
                <a16:creationId xmlns:a16="http://schemas.microsoft.com/office/drawing/2014/main" id="{1CEA8FFF-4496-4576-5F4E-8C44B10D212D}"/>
              </a:ext>
            </a:extLst>
          </p:cNvPr>
          <p:cNvSpPr txBox="1"/>
          <p:nvPr/>
        </p:nvSpPr>
        <p:spPr>
          <a:xfrm>
            <a:off x="7331416" y="2069441"/>
            <a:ext cx="1876186" cy="1815882"/>
          </a:xfrm>
          <a:prstGeom prst="rect">
            <a:avLst/>
          </a:prstGeom>
          <a:noFill/>
        </p:spPr>
        <p:txBody>
          <a:bodyPr wrap="square" rtlCol="0">
            <a:spAutoFit/>
          </a:bodyPr>
          <a:lstStyle/>
          <a:p>
            <a:r>
              <a:rPr lang="en-US" dirty="0">
                <a:solidFill>
                  <a:srgbClr val="FFFFFF"/>
                </a:solidFill>
                <a:effectLst/>
              </a:rPr>
              <a:t>Refers users to national and local support agencies, educational resources, and a 24/7 support network through experts.</a:t>
            </a:r>
            <a:endParaRPr lang="en-US" dirty="0"/>
          </a:p>
          <a:p>
            <a:endParaRPr lang="en-US" dirty="0"/>
          </a:p>
        </p:txBody>
      </p:sp>
      <p:grpSp>
        <p:nvGrpSpPr>
          <p:cNvPr id="34" name="Google Shape;1132;p67">
            <a:extLst>
              <a:ext uri="{FF2B5EF4-FFF2-40B4-BE49-F238E27FC236}">
                <a16:creationId xmlns:a16="http://schemas.microsoft.com/office/drawing/2014/main" id="{D671DDF1-7435-DFA9-227F-EAE04CDA4E69}"/>
              </a:ext>
            </a:extLst>
          </p:cNvPr>
          <p:cNvGrpSpPr/>
          <p:nvPr/>
        </p:nvGrpSpPr>
        <p:grpSpPr>
          <a:xfrm>
            <a:off x="24986" y="1657444"/>
            <a:ext cx="349540" cy="350328"/>
            <a:chOff x="6009692" y="3911344"/>
            <a:chExt cx="349540" cy="350328"/>
          </a:xfrm>
        </p:grpSpPr>
        <p:sp>
          <p:nvSpPr>
            <p:cNvPr id="35" name="Google Shape;1133;p67">
              <a:extLst>
                <a:ext uri="{FF2B5EF4-FFF2-40B4-BE49-F238E27FC236}">
                  <a16:creationId xmlns:a16="http://schemas.microsoft.com/office/drawing/2014/main" id="{ABD81BA9-BBF9-8BB6-ED96-539DE3B1AFEE}"/>
                </a:ext>
              </a:extLst>
            </p:cNvPr>
            <p:cNvSpPr/>
            <p:nvPr/>
          </p:nvSpPr>
          <p:spPr>
            <a:xfrm>
              <a:off x="6133406" y="4042041"/>
              <a:ext cx="102118" cy="75038"/>
            </a:xfrm>
            <a:custGeom>
              <a:avLst/>
              <a:gdLst/>
              <a:ahLst/>
              <a:cxnLst/>
              <a:rect l="l" t="t" r="r" b="b"/>
              <a:pathLst>
                <a:path w="3145" h="2311" extrusionOk="0">
                  <a:moveTo>
                    <a:pt x="1260" y="1053"/>
                  </a:moveTo>
                  <a:cubicBezTo>
                    <a:pt x="1370" y="1053"/>
                    <a:pt x="1482" y="1123"/>
                    <a:pt x="1548" y="1238"/>
                  </a:cubicBezTo>
                  <a:lnTo>
                    <a:pt x="1572" y="1238"/>
                  </a:lnTo>
                  <a:cubicBezTo>
                    <a:pt x="1625" y="1134"/>
                    <a:pt x="1753" y="1068"/>
                    <a:pt x="1884" y="1068"/>
                  </a:cubicBezTo>
                  <a:cubicBezTo>
                    <a:pt x="1932" y="1068"/>
                    <a:pt x="1980" y="1076"/>
                    <a:pt x="2025" y="1096"/>
                  </a:cubicBezTo>
                  <a:cubicBezTo>
                    <a:pt x="2168" y="1167"/>
                    <a:pt x="2239" y="1358"/>
                    <a:pt x="2168" y="1500"/>
                  </a:cubicBezTo>
                  <a:cubicBezTo>
                    <a:pt x="2049" y="1739"/>
                    <a:pt x="1834" y="1881"/>
                    <a:pt x="1572" y="1881"/>
                  </a:cubicBezTo>
                  <a:cubicBezTo>
                    <a:pt x="1310" y="1881"/>
                    <a:pt x="1096" y="1739"/>
                    <a:pt x="977" y="1500"/>
                  </a:cubicBezTo>
                  <a:cubicBezTo>
                    <a:pt x="905" y="1358"/>
                    <a:pt x="953" y="1167"/>
                    <a:pt x="1120" y="1096"/>
                  </a:cubicBezTo>
                  <a:cubicBezTo>
                    <a:pt x="1164" y="1066"/>
                    <a:pt x="1212" y="1053"/>
                    <a:pt x="1260" y="1053"/>
                  </a:cubicBezTo>
                  <a:close/>
                  <a:moveTo>
                    <a:pt x="2215" y="0"/>
                  </a:moveTo>
                  <a:cubicBezTo>
                    <a:pt x="1930" y="262"/>
                    <a:pt x="1572" y="429"/>
                    <a:pt x="1191" y="429"/>
                  </a:cubicBezTo>
                  <a:lnTo>
                    <a:pt x="1" y="429"/>
                  </a:lnTo>
                  <a:lnTo>
                    <a:pt x="1" y="738"/>
                  </a:lnTo>
                  <a:cubicBezTo>
                    <a:pt x="1" y="1620"/>
                    <a:pt x="691" y="2310"/>
                    <a:pt x="1572" y="2310"/>
                  </a:cubicBezTo>
                  <a:cubicBezTo>
                    <a:pt x="2453" y="2310"/>
                    <a:pt x="3144" y="1620"/>
                    <a:pt x="3144" y="738"/>
                  </a:cubicBezTo>
                  <a:lnTo>
                    <a:pt x="3144" y="405"/>
                  </a:lnTo>
                  <a:cubicBezTo>
                    <a:pt x="2787" y="405"/>
                    <a:pt x="2453" y="262"/>
                    <a:pt x="221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134;p67">
              <a:extLst>
                <a:ext uri="{FF2B5EF4-FFF2-40B4-BE49-F238E27FC236}">
                  <a16:creationId xmlns:a16="http://schemas.microsoft.com/office/drawing/2014/main" id="{EBC4F195-8F7B-B031-36F3-06E93A3D310A}"/>
                </a:ext>
              </a:extLst>
            </p:cNvPr>
            <p:cNvSpPr/>
            <p:nvPr/>
          </p:nvSpPr>
          <p:spPr>
            <a:xfrm>
              <a:off x="6134186" y="3994081"/>
              <a:ext cx="100560" cy="41010"/>
            </a:xfrm>
            <a:custGeom>
              <a:avLst/>
              <a:gdLst/>
              <a:ahLst/>
              <a:cxnLst/>
              <a:rect l="l" t="t" r="r" b="b"/>
              <a:pathLst>
                <a:path w="3097" h="1263" extrusionOk="0">
                  <a:moveTo>
                    <a:pt x="1548" y="1"/>
                  </a:moveTo>
                  <a:cubicBezTo>
                    <a:pt x="786" y="1"/>
                    <a:pt x="143" y="548"/>
                    <a:pt x="0" y="1263"/>
                  </a:cubicBezTo>
                  <a:lnTo>
                    <a:pt x="1167" y="1263"/>
                  </a:lnTo>
                  <a:cubicBezTo>
                    <a:pt x="1477" y="1263"/>
                    <a:pt x="1763" y="1096"/>
                    <a:pt x="1906" y="810"/>
                  </a:cubicBezTo>
                  <a:cubicBezTo>
                    <a:pt x="1953" y="703"/>
                    <a:pt x="2066" y="650"/>
                    <a:pt x="2179" y="650"/>
                  </a:cubicBezTo>
                  <a:cubicBezTo>
                    <a:pt x="2292" y="650"/>
                    <a:pt x="2406" y="703"/>
                    <a:pt x="2453" y="810"/>
                  </a:cubicBezTo>
                  <a:cubicBezTo>
                    <a:pt x="2596" y="1048"/>
                    <a:pt x="2834" y="1215"/>
                    <a:pt x="3096" y="1263"/>
                  </a:cubicBezTo>
                  <a:cubicBezTo>
                    <a:pt x="2930" y="548"/>
                    <a:pt x="2310" y="1"/>
                    <a:pt x="154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135;p67">
              <a:extLst>
                <a:ext uri="{FF2B5EF4-FFF2-40B4-BE49-F238E27FC236}">
                  <a16:creationId xmlns:a16="http://schemas.microsoft.com/office/drawing/2014/main" id="{57659FA0-906D-962C-0B48-09929826B0CC}"/>
                </a:ext>
              </a:extLst>
            </p:cNvPr>
            <p:cNvSpPr/>
            <p:nvPr/>
          </p:nvSpPr>
          <p:spPr>
            <a:xfrm>
              <a:off x="6112527" y="4180432"/>
              <a:ext cx="143875" cy="81240"/>
            </a:xfrm>
            <a:custGeom>
              <a:avLst/>
              <a:gdLst/>
              <a:ahLst/>
              <a:cxnLst/>
              <a:rect l="l" t="t" r="r" b="b"/>
              <a:pathLst>
                <a:path w="4431" h="2502" extrusionOk="0">
                  <a:moveTo>
                    <a:pt x="644" y="1"/>
                  </a:moveTo>
                  <a:cubicBezTo>
                    <a:pt x="263" y="144"/>
                    <a:pt x="1" y="477"/>
                    <a:pt x="1" y="906"/>
                  </a:cubicBezTo>
                  <a:lnTo>
                    <a:pt x="1" y="2025"/>
                  </a:lnTo>
                  <a:cubicBezTo>
                    <a:pt x="691" y="2311"/>
                    <a:pt x="1429" y="2501"/>
                    <a:pt x="2215" y="2501"/>
                  </a:cubicBezTo>
                  <a:cubicBezTo>
                    <a:pt x="3001" y="2501"/>
                    <a:pt x="3739" y="2311"/>
                    <a:pt x="4430" y="2025"/>
                  </a:cubicBezTo>
                  <a:lnTo>
                    <a:pt x="4430" y="906"/>
                  </a:lnTo>
                  <a:cubicBezTo>
                    <a:pt x="4430" y="477"/>
                    <a:pt x="4168" y="144"/>
                    <a:pt x="3787" y="1"/>
                  </a:cubicBezTo>
                  <a:lnTo>
                    <a:pt x="3787" y="906"/>
                  </a:lnTo>
                  <a:cubicBezTo>
                    <a:pt x="3787" y="1025"/>
                    <a:pt x="3716" y="1120"/>
                    <a:pt x="3620" y="1192"/>
                  </a:cubicBezTo>
                  <a:cubicBezTo>
                    <a:pt x="3578" y="1208"/>
                    <a:pt x="3536" y="1216"/>
                    <a:pt x="3495" y="1216"/>
                  </a:cubicBezTo>
                  <a:cubicBezTo>
                    <a:pt x="3420" y="1216"/>
                    <a:pt x="3348" y="1190"/>
                    <a:pt x="3287" y="1144"/>
                  </a:cubicBezTo>
                  <a:lnTo>
                    <a:pt x="2215" y="334"/>
                  </a:lnTo>
                  <a:lnTo>
                    <a:pt x="1144" y="1144"/>
                  </a:lnTo>
                  <a:cubicBezTo>
                    <a:pt x="1082" y="1190"/>
                    <a:pt x="1011" y="1216"/>
                    <a:pt x="936" y="1216"/>
                  </a:cubicBezTo>
                  <a:cubicBezTo>
                    <a:pt x="895" y="1216"/>
                    <a:pt x="852" y="1208"/>
                    <a:pt x="810" y="1192"/>
                  </a:cubicBezTo>
                  <a:cubicBezTo>
                    <a:pt x="715" y="1120"/>
                    <a:pt x="644" y="1025"/>
                    <a:pt x="644" y="906"/>
                  </a:cubicBezTo>
                  <a:lnTo>
                    <a:pt x="64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6;p67">
              <a:extLst>
                <a:ext uri="{FF2B5EF4-FFF2-40B4-BE49-F238E27FC236}">
                  <a16:creationId xmlns:a16="http://schemas.microsoft.com/office/drawing/2014/main" id="{C2739263-7CB6-B4B8-AAD7-26566B617A1B}"/>
                </a:ext>
              </a:extLst>
            </p:cNvPr>
            <p:cNvSpPr/>
            <p:nvPr/>
          </p:nvSpPr>
          <p:spPr>
            <a:xfrm>
              <a:off x="6009692" y="3911344"/>
              <a:ext cx="349540" cy="323239"/>
            </a:xfrm>
            <a:custGeom>
              <a:avLst/>
              <a:gdLst/>
              <a:ahLst/>
              <a:cxnLst/>
              <a:rect l="l" t="t" r="r" b="b"/>
              <a:pathLst>
                <a:path w="10765" h="9955" extrusionOk="0">
                  <a:moveTo>
                    <a:pt x="5382" y="1"/>
                  </a:moveTo>
                  <a:cubicBezTo>
                    <a:pt x="2429" y="1"/>
                    <a:pt x="0" y="2430"/>
                    <a:pt x="0" y="5383"/>
                  </a:cubicBezTo>
                  <a:cubicBezTo>
                    <a:pt x="0" y="7312"/>
                    <a:pt x="1024" y="9002"/>
                    <a:pt x="2548" y="9955"/>
                  </a:cubicBezTo>
                  <a:lnTo>
                    <a:pt x="2548" y="9193"/>
                  </a:lnTo>
                  <a:cubicBezTo>
                    <a:pt x="2548" y="8359"/>
                    <a:pt x="3168" y="7693"/>
                    <a:pt x="3977" y="7621"/>
                  </a:cubicBezTo>
                  <a:lnTo>
                    <a:pt x="4430" y="7169"/>
                  </a:lnTo>
                  <a:lnTo>
                    <a:pt x="4430" y="6740"/>
                  </a:lnTo>
                  <a:cubicBezTo>
                    <a:pt x="3691" y="6407"/>
                    <a:pt x="3168" y="5645"/>
                    <a:pt x="3168" y="4763"/>
                  </a:cubicBezTo>
                  <a:lnTo>
                    <a:pt x="3168" y="4120"/>
                  </a:lnTo>
                  <a:cubicBezTo>
                    <a:pt x="3168" y="2906"/>
                    <a:pt x="4168" y="1929"/>
                    <a:pt x="5382" y="1929"/>
                  </a:cubicBezTo>
                  <a:cubicBezTo>
                    <a:pt x="6597" y="1929"/>
                    <a:pt x="7597" y="2906"/>
                    <a:pt x="7597" y="4120"/>
                  </a:cubicBezTo>
                  <a:lnTo>
                    <a:pt x="7597" y="4763"/>
                  </a:lnTo>
                  <a:cubicBezTo>
                    <a:pt x="7597" y="5645"/>
                    <a:pt x="7073" y="6407"/>
                    <a:pt x="6335" y="6740"/>
                  </a:cubicBezTo>
                  <a:lnTo>
                    <a:pt x="6335" y="7169"/>
                  </a:lnTo>
                  <a:lnTo>
                    <a:pt x="6787" y="7621"/>
                  </a:lnTo>
                  <a:cubicBezTo>
                    <a:pt x="7597" y="7693"/>
                    <a:pt x="8216" y="8359"/>
                    <a:pt x="8216" y="9193"/>
                  </a:cubicBezTo>
                  <a:lnTo>
                    <a:pt x="8216" y="9955"/>
                  </a:lnTo>
                  <a:cubicBezTo>
                    <a:pt x="9740" y="9002"/>
                    <a:pt x="10764" y="7312"/>
                    <a:pt x="10764" y="5383"/>
                  </a:cubicBezTo>
                  <a:cubicBezTo>
                    <a:pt x="10764" y="2430"/>
                    <a:pt x="8335" y="1"/>
                    <a:pt x="538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137;p67">
              <a:extLst>
                <a:ext uri="{FF2B5EF4-FFF2-40B4-BE49-F238E27FC236}">
                  <a16:creationId xmlns:a16="http://schemas.microsoft.com/office/drawing/2014/main" id="{7E60AEBD-394A-AF5A-97C3-CDFF03F67E92}"/>
                </a:ext>
              </a:extLst>
            </p:cNvPr>
            <p:cNvSpPr/>
            <p:nvPr/>
          </p:nvSpPr>
          <p:spPr>
            <a:xfrm>
              <a:off x="6198348" y="4164197"/>
              <a:ext cx="17047" cy="24775"/>
            </a:xfrm>
            <a:custGeom>
              <a:avLst/>
              <a:gdLst/>
              <a:ahLst/>
              <a:cxnLst/>
              <a:rect l="l" t="t" r="r" b="b"/>
              <a:pathLst>
                <a:path w="525" h="763" extrusionOk="0">
                  <a:moveTo>
                    <a:pt x="263" y="1"/>
                  </a:moveTo>
                  <a:lnTo>
                    <a:pt x="1" y="382"/>
                  </a:lnTo>
                  <a:lnTo>
                    <a:pt x="525" y="763"/>
                  </a:lnTo>
                  <a:lnTo>
                    <a:pt x="525" y="263"/>
                  </a:lnTo>
                  <a:lnTo>
                    <a:pt x="2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138;p67">
              <a:extLst>
                <a:ext uri="{FF2B5EF4-FFF2-40B4-BE49-F238E27FC236}">
                  <a16:creationId xmlns:a16="http://schemas.microsoft.com/office/drawing/2014/main" id="{AF1A95B0-92FA-A94E-76F2-1513055B64A0}"/>
                </a:ext>
              </a:extLst>
            </p:cNvPr>
            <p:cNvSpPr/>
            <p:nvPr/>
          </p:nvSpPr>
          <p:spPr>
            <a:xfrm>
              <a:off x="6174385" y="4136369"/>
              <a:ext cx="20131" cy="23995"/>
            </a:xfrm>
            <a:custGeom>
              <a:avLst/>
              <a:gdLst/>
              <a:ahLst/>
              <a:cxnLst/>
              <a:rect l="l" t="t" r="r" b="b"/>
              <a:pathLst>
                <a:path w="620" h="739" extrusionOk="0">
                  <a:moveTo>
                    <a:pt x="1" y="0"/>
                  </a:moveTo>
                  <a:lnTo>
                    <a:pt x="1" y="262"/>
                  </a:lnTo>
                  <a:lnTo>
                    <a:pt x="310" y="739"/>
                  </a:lnTo>
                  <a:lnTo>
                    <a:pt x="620" y="262"/>
                  </a:lnTo>
                  <a:lnTo>
                    <a:pt x="620" y="0"/>
                  </a:lnTo>
                  <a:cubicBezTo>
                    <a:pt x="525" y="24"/>
                    <a:pt x="429" y="48"/>
                    <a:pt x="310" y="48"/>
                  </a:cubicBezTo>
                  <a:cubicBezTo>
                    <a:pt x="191" y="48"/>
                    <a:pt x="96" y="24"/>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139;p67">
              <a:extLst>
                <a:ext uri="{FF2B5EF4-FFF2-40B4-BE49-F238E27FC236}">
                  <a16:creationId xmlns:a16="http://schemas.microsoft.com/office/drawing/2014/main" id="{987478CB-3BCD-7B0A-CBBE-25ED880624AF}"/>
                </a:ext>
              </a:extLst>
            </p:cNvPr>
            <p:cNvSpPr/>
            <p:nvPr/>
          </p:nvSpPr>
          <p:spPr>
            <a:xfrm>
              <a:off x="6153506" y="4164197"/>
              <a:ext cx="17047" cy="24775"/>
            </a:xfrm>
            <a:custGeom>
              <a:avLst/>
              <a:gdLst/>
              <a:ahLst/>
              <a:cxnLst/>
              <a:rect l="l" t="t" r="r" b="b"/>
              <a:pathLst>
                <a:path w="525" h="763" extrusionOk="0">
                  <a:moveTo>
                    <a:pt x="263" y="1"/>
                  </a:moveTo>
                  <a:lnTo>
                    <a:pt x="1" y="263"/>
                  </a:lnTo>
                  <a:lnTo>
                    <a:pt x="1" y="763"/>
                  </a:lnTo>
                  <a:lnTo>
                    <a:pt x="525" y="382"/>
                  </a:lnTo>
                  <a:lnTo>
                    <a:pt x="2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 name="Google Shape;8308;p86">
            <a:extLst>
              <a:ext uri="{FF2B5EF4-FFF2-40B4-BE49-F238E27FC236}">
                <a16:creationId xmlns:a16="http://schemas.microsoft.com/office/drawing/2014/main" id="{AD02EF16-63D8-677A-61AB-8B4C5C62CD88}"/>
              </a:ext>
            </a:extLst>
          </p:cNvPr>
          <p:cNvGrpSpPr/>
          <p:nvPr/>
        </p:nvGrpSpPr>
        <p:grpSpPr>
          <a:xfrm>
            <a:off x="3840541" y="1555099"/>
            <a:ext cx="345856" cy="357335"/>
            <a:chOff x="-1951475" y="3597450"/>
            <a:chExt cx="295375" cy="291450"/>
          </a:xfrm>
          <a:solidFill>
            <a:schemeClr val="bg1"/>
          </a:solidFill>
          <a:effectLst>
            <a:outerShdw blurRad="50800" dist="50800" dir="5400000" algn="ctr" rotWithShape="0">
              <a:srgbClr val="FFFFFF"/>
            </a:outerShdw>
          </a:effectLst>
        </p:grpSpPr>
        <p:sp>
          <p:nvSpPr>
            <p:cNvPr id="43" name="Google Shape;8309;p86">
              <a:extLst>
                <a:ext uri="{FF2B5EF4-FFF2-40B4-BE49-F238E27FC236}">
                  <a16:creationId xmlns:a16="http://schemas.microsoft.com/office/drawing/2014/main" id="{9FC243CD-650D-7CC6-A324-3F9A133AF3FE}"/>
                </a:ext>
              </a:extLst>
            </p:cNvPr>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310;p86">
              <a:extLst>
                <a:ext uri="{FF2B5EF4-FFF2-40B4-BE49-F238E27FC236}">
                  <a16:creationId xmlns:a16="http://schemas.microsoft.com/office/drawing/2014/main" id="{A09DF6C6-D8CC-5097-8A87-7E5E3069E94B}"/>
                </a:ext>
              </a:extLst>
            </p:cNvPr>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311;p86">
              <a:extLst>
                <a:ext uri="{FF2B5EF4-FFF2-40B4-BE49-F238E27FC236}">
                  <a16:creationId xmlns:a16="http://schemas.microsoft.com/office/drawing/2014/main" id="{F537C0CA-2320-4436-B41D-A6C3169EA80E}"/>
                </a:ext>
              </a:extLst>
            </p:cNvPr>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312;p86">
              <a:extLst>
                <a:ext uri="{FF2B5EF4-FFF2-40B4-BE49-F238E27FC236}">
                  <a16:creationId xmlns:a16="http://schemas.microsoft.com/office/drawing/2014/main" id="{623D58E2-7E27-D972-529B-94C2F213B286}"/>
                </a:ext>
              </a:extLst>
            </p:cNvPr>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5683;p80">
            <a:extLst>
              <a:ext uri="{FF2B5EF4-FFF2-40B4-BE49-F238E27FC236}">
                <a16:creationId xmlns:a16="http://schemas.microsoft.com/office/drawing/2014/main" id="{5A46D042-BC99-D629-A492-8581E772E524}"/>
              </a:ext>
            </a:extLst>
          </p:cNvPr>
          <p:cNvGrpSpPr/>
          <p:nvPr/>
        </p:nvGrpSpPr>
        <p:grpSpPr>
          <a:xfrm>
            <a:off x="6307564" y="1870250"/>
            <a:ext cx="369352" cy="333834"/>
            <a:chOff x="899850" y="4992125"/>
            <a:chExt cx="481825" cy="481825"/>
          </a:xfrm>
          <a:solidFill>
            <a:schemeClr val="bg1"/>
          </a:solidFill>
        </p:grpSpPr>
        <p:sp>
          <p:nvSpPr>
            <p:cNvPr id="48" name="Google Shape;5684;p80">
              <a:extLst>
                <a:ext uri="{FF2B5EF4-FFF2-40B4-BE49-F238E27FC236}">
                  <a16:creationId xmlns:a16="http://schemas.microsoft.com/office/drawing/2014/main" id="{CEA5FA7F-DBFC-7778-1B28-7B2D04D7AD4D}"/>
                </a:ext>
              </a:extLst>
            </p:cNvPr>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9" name="Google Shape;5685;p80">
              <a:extLst>
                <a:ext uri="{FF2B5EF4-FFF2-40B4-BE49-F238E27FC236}">
                  <a16:creationId xmlns:a16="http://schemas.microsoft.com/office/drawing/2014/main" id="{264A40A2-E39C-F814-73F8-4E2115F2DCA6}"/>
                </a:ext>
              </a:extLst>
            </p:cNvPr>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50" name="Google Shape;5686;p80">
              <a:extLst>
                <a:ext uri="{FF2B5EF4-FFF2-40B4-BE49-F238E27FC236}">
                  <a16:creationId xmlns:a16="http://schemas.microsoft.com/office/drawing/2014/main" id="{48A04C4C-3AE1-394D-B07A-55F89F7FA30B}"/>
                </a:ext>
              </a:extLst>
            </p:cNvPr>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rgbClr val="435D74"/>
                </a:solidFill>
              </a:endParaRPr>
            </a:p>
          </p:txBody>
        </p:sp>
      </p:grpSp>
      <p:grpSp>
        <p:nvGrpSpPr>
          <p:cNvPr id="51" name="Google Shape;6622;p83">
            <a:extLst>
              <a:ext uri="{FF2B5EF4-FFF2-40B4-BE49-F238E27FC236}">
                <a16:creationId xmlns:a16="http://schemas.microsoft.com/office/drawing/2014/main" id="{25245B4C-9341-8F63-A2B8-A3AA74749C86}"/>
              </a:ext>
            </a:extLst>
          </p:cNvPr>
          <p:cNvGrpSpPr/>
          <p:nvPr/>
        </p:nvGrpSpPr>
        <p:grpSpPr>
          <a:xfrm>
            <a:off x="8776542" y="1852021"/>
            <a:ext cx="355557" cy="354616"/>
            <a:chOff x="-34005425" y="3945575"/>
            <a:chExt cx="293025" cy="292250"/>
          </a:xfrm>
          <a:solidFill>
            <a:schemeClr val="bg1">
              <a:lumMod val="95000"/>
            </a:schemeClr>
          </a:solidFill>
        </p:grpSpPr>
        <p:sp>
          <p:nvSpPr>
            <p:cNvPr id="52" name="Google Shape;6623;p83">
              <a:extLst>
                <a:ext uri="{FF2B5EF4-FFF2-40B4-BE49-F238E27FC236}">
                  <a16:creationId xmlns:a16="http://schemas.microsoft.com/office/drawing/2014/main" id="{830A37CE-B7E3-6A08-202C-F1AE117F00E1}"/>
                </a:ext>
              </a:extLst>
            </p:cNvPr>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6624;p83">
              <a:extLst>
                <a:ext uri="{FF2B5EF4-FFF2-40B4-BE49-F238E27FC236}">
                  <a16:creationId xmlns:a16="http://schemas.microsoft.com/office/drawing/2014/main" id="{2D8B65A4-B045-809E-416D-33D5B9F52CE1}"/>
                </a:ext>
              </a:extLst>
            </p:cNvPr>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6625;p83">
              <a:extLst>
                <a:ext uri="{FF2B5EF4-FFF2-40B4-BE49-F238E27FC236}">
                  <a16:creationId xmlns:a16="http://schemas.microsoft.com/office/drawing/2014/main" id="{E4B23F69-D3CD-F461-572C-EDEB79C7A17F}"/>
                </a:ext>
              </a:extLst>
            </p:cNvPr>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44"/>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8</a:t>
            </a:fld>
            <a:endParaRPr/>
          </a:p>
        </p:txBody>
      </p:sp>
      <p:sp>
        <p:nvSpPr>
          <p:cNvPr id="437" name="Google Shape;437;p44"/>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438" name="Google Shape;438;p44"/>
          <p:cNvSpPr txBox="1">
            <a:spLocks noGrp="1"/>
          </p:cNvSpPr>
          <p:nvPr>
            <p:ph type="title"/>
          </p:nvPr>
        </p:nvSpPr>
        <p:spPr>
          <a:xfrm>
            <a:off x="1558070" y="382114"/>
            <a:ext cx="301393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KEY FEATURES </a:t>
            </a:r>
            <a:endParaRPr dirty="0"/>
          </a:p>
        </p:txBody>
      </p:sp>
      <p:sp>
        <p:nvSpPr>
          <p:cNvPr id="441" name="Google Shape;441;p44"/>
          <p:cNvSpPr/>
          <p:nvPr/>
        </p:nvSpPr>
        <p:spPr>
          <a:xfrm rot="4852303" flipH="1">
            <a:off x="-645149" y="3183391"/>
            <a:ext cx="3036961" cy="3036961"/>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355;p39">
            <a:extLst>
              <a:ext uri="{FF2B5EF4-FFF2-40B4-BE49-F238E27FC236}">
                <a16:creationId xmlns:a16="http://schemas.microsoft.com/office/drawing/2014/main" id="{E1F20579-B37E-C17B-CBB7-E97A1EF8613D}"/>
              </a:ext>
            </a:extLst>
          </p:cNvPr>
          <p:cNvSpPr/>
          <p:nvPr/>
        </p:nvSpPr>
        <p:spPr>
          <a:xfrm>
            <a:off x="135767" y="100781"/>
            <a:ext cx="1169400" cy="11694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58;p39">
            <a:extLst>
              <a:ext uri="{FF2B5EF4-FFF2-40B4-BE49-F238E27FC236}">
                <a16:creationId xmlns:a16="http://schemas.microsoft.com/office/drawing/2014/main" id="{2604D0AE-AF57-7505-52CD-5C83DB36DD2D}"/>
              </a:ext>
            </a:extLst>
          </p:cNvPr>
          <p:cNvSpPr txBox="1">
            <a:spLocks/>
          </p:cNvSpPr>
          <p:nvPr/>
        </p:nvSpPr>
        <p:spPr>
          <a:xfrm>
            <a:off x="141575" y="299981"/>
            <a:ext cx="1027200" cy="771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1pPr>
            <a:lvl2pPr marL="914400" marR="0" lvl="1"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2pPr>
            <a:lvl3pPr marL="1371600" marR="0" lvl="2"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3pPr>
            <a:lvl4pPr marL="1828800" marR="0" lvl="3"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4pPr>
            <a:lvl5pPr marL="2286000" marR="0" lvl="4"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5pPr>
            <a:lvl6pPr marL="2743200" marR="0" lvl="5"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6pPr>
            <a:lvl7pPr marL="3200400" marR="0" lvl="6"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7pPr>
            <a:lvl8pPr marL="3657600" marR="0" lvl="7"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8pPr>
            <a:lvl9pPr marL="4114800" marR="0" lvl="8"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9pPr>
          </a:lstStyle>
          <a:p>
            <a:pPr marL="0" indent="0" algn="ctr"/>
            <a:r>
              <a:rPr lang="en" sz="3600" dirty="0">
                <a:latin typeface="Poppins SemiBold" panose="00000700000000000000" pitchFamily="2" charset="0"/>
                <a:cs typeface="Poppins SemiBold" panose="00000700000000000000" pitchFamily="2" charset="0"/>
              </a:rPr>
              <a:t>05</a:t>
            </a:r>
          </a:p>
        </p:txBody>
      </p:sp>
      <p:pic>
        <p:nvPicPr>
          <p:cNvPr id="8" name="Picture 7" descr="A blue and pink circle with text&#10;&#10;AI-generated content may be incorrect.">
            <a:extLst>
              <a:ext uri="{FF2B5EF4-FFF2-40B4-BE49-F238E27FC236}">
                <a16:creationId xmlns:a16="http://schemas.microsoft.com/office/drawing/2014/main" id="{7F022D1D-26EF-35F0-5024-36EFA1A9EB92}"/>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Lst>
          </a:blip>
          <a:stretch>
            <a:fillRect/>
          </a:stretch>
        </p:blipFill>
        <p:spPr>
          <a:xfrm>
            <a:off x="445549" y="3230561"/>
            <a:ext cx="2464697" cy="2627179"/>
          </a:xfrm>
          <a:prstGeom prst="roundRect">
            <a:avLst>
              <a:gd name="adj" fmla="val 16667"/>
            </a:avLst>
          </a:prstGeom>
          <a:ln>
            <a:noFill/>
          </a:ln>
          <a:effectLst>
            <a:outerShdw blurRad="152400" dist="12000" dir="900000" sy="98000" kx="110000" ky="200000" algn="tl" rotWithShape="0">
              <a:srgbClr val="000000">
                <a:alpha val="30000"/>
              </a:srgbClr>
            </a:outerShdw>
            <a:reflection blurRad="50800" stA="45000" endPos="65000" dist="50800" dir="5400000" sy="-100000" algn="bl" rotWithShape="0"/>
          </a:effectLst>
          <a:scene3d>
            <a:camera prst="perspectiveRelaxed" fov="4800000">
              <a:rot lat="276708" lon="19093937" rev="3311809"/>
            </a:camera>
            <a:lightRig rig="threePt" dir="t"/>
          </a:scene3d>
          <a:sp3d contourW="6350" prstMaterial="matte">
            <a:bevelT w="101600" h="101600"/>
            <a:contourClr>
              <a:srgbClr val="969696"/>
            </a:contourClr>
          </a:sp3d>
        </p:spPr>
      </p:pic>
      <p:sp>
        <p:nvSpPr>
          <p:cNvPr id="10" name="Subtitle 9">
            <a:extLst>
              <a:ext uri="{FF2B5EF4-FFF2-40B4-BE49-F238E27FC236}">
                <a16:creationId xmlns:a16="http://schemas.microsoft.com/office/drawing/2014/main" id="{B17CC6EB-14E2-BC7A-0A85-2CADFB2999A8}"/>
              </a:ext>
            </a:extLst>
          </p:cNvPr>
          <p:cNvSpPr>
            <a:spLocks noGrp="1"/>
          </p:cNvSpPr>
          <p:nvPr>
            <p:ph type="subTitle" idx="1"/>
          </p:nvPr>
        </p:nvSpPr>
        <p:spPr/>
        <p:txBody>
          <a:bodyPr/>
          <a:lstStyle/>
          <a:p>
            <a:r>
              <a:rPr lang="en-ZA" dirty="0"/>
              <a:t>SafeCircle</a:t>
            </a:r>
          </a:p>
        </p:txBody>
      </p:sp>
      <p:sp>
        <p:nvSpPr>
          <p:cNvPr id="11" name="Arrow: Right 10">
            <a:extLst>
              <a:ext uri="{FF2B5EF4-FFF2-40B4-BE49-F238E27FC236}">
                <a16:creationId xmlns:a16="http://schemas.microsoft.com/office/drawing/2014/main" id="{20E14FBC-524A-67BA-1D9B-8D0B1B84DF58}"/>
              </a:ext>
            </a:extLst>
          </p:cNvPr>
          <p:cNvSpPr/>
          <p:nvPr/>
        </p:nvSpPr>
        <p:spPr>
          <a:xfrm>
            <a:off x="68580" y="2089612"/>
            <a:ext cx="8976359" cy="122318"/>
          </a:xfrm>
          <a:prstGeom prst="rightArrow">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Oval 11">
            <a:extLst>
              <a:ext uri="{FF2B5EF4-FFF2-40B4-BE49-F238E27FC236}">
                <a16:creationId xmlns:a16="http://schemas.microsoft.com/office/drawing/2014/main" id="{03489DAD-155C-07FB-126B-0A645BB81AD8}"/>
              </a:ext>
            </a:extLst>
          </p:cNvPr>
          <p:cNvSpPr/>
          <p:nvPr/>
        </p:nvSpPr>
        <p:spPr>
          <a:xfrm>
            <a:off x="1073937" y="1884416"/>
            <a:ext cx="72535" cy="429462"/>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Oval 12">
            <a:extLst>
              <a:ext uri="{FF2B5EF4-FFF2-40B4-BE49-F238E27FC236}">
                <a16:creationId xmlns:a16="http://schemas.microsoft.com/office/drawing/2014/main" id="{E5645856-E9C2-47FC-7C3F-B4DE264DEC49}"/>
              </a:ext>
            </a:extLst>
          </p:cNvPr>
          <p:cNvSpPr/>
          <p:nvPr/>
        </p:nvSpPr>
        <p:spPr>
          <a:xfrm>
            <a:off x="3487558" y="1884416"/>
            <a:ext cx="72535" cy="429462"/>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Oval 13">
            <a:extLst>
              <a:ext uri="{FF2B5EF4-FFF2-40B4-BE49-F238E27FC236}">
                <a16:creationId xmlns:a16="http://schemas.microsoft.com/office/drawing/2014/main" id="{EE4FADD4-9342-2D7F-E93F-AA9F0240B66E}"/>
              </a:ext>
            </a:extLst>
          </p:cNvPr>
          <p:cNvSpPr/>
          <p:nvPr/>
        </p:nvSpPr>
        <p:spPr>
          <a:xfrm>
            <a:off x="5724409" y="1869166"/>
            <a:ext cx="72535" cy="429462"/>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Oval 14">
            <a:extLst>
              <a:ext uri="{FF2B5EF4-FFF2-40B4-BE49-F238E27FC236}">
                <a16:creationId xmlns:a16="http://schemas.microsoft.com/office/drawing/2014/main" id="{6D73FD03-7E19-9BA0-5959-1EEAA3CE8009}"/>
              </a:ext>
            </a:extLst>
          </p:cNvPr>
          <p:cNvSpPr/>
          <p:nvPr/>
        </p:nvSpPr>
        <p:spPr>
          <a:xfrm>
            <a:off x="7961260" y="1869166"/>
            <a:ext cx="72535" cy="429462"/>
          </a:xfrm>
          <a:prstGeom prst="ellipse">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TextBox 15">
            <a:extLst>
              <a:ext uri="{FF2B5EF4-FFF2-40B4-BE49-F238E27FC236}">
                <a16:creationId xmlns:a16="http://schemas.microsoft.com/office/drawing/2014/main" id="{7C32A029-95F3-A286-2198-DD5528D3CF59}"/>
              </a:ext>
            </a:extLst>
          </p:cNvPr>
          <p:cNvSpPr txBox="1"/>
          <p:nvPr/>
        </p:nvSpPr>
        <p:spPr>
          <a:xfrm>
            <a:off x="562144" y="1356650"/>
            <a:ext cx="1305166" cy="523220"/>
          </a:xfrm>
          <a:prstGeom prst="rect">
            <a:avLst/>
          </a:prstGeom>
          <a:noFill/>
        </p:spPr>
        <p:txBody>
          <a:bodyPr wrap="square" rtlCol="0">
            <a:spAutoFit/>
          </a:bodyPr>
          <a:lstStyle/>
          <a:p>
            <a:r>
              <a:rPr lang="en-ZA" b="1" dirty="0">
                <a:solidFill>
                  <a:schemeClr val="accent2"/>
                </a:solidFill>
                <a:effectLst/>
              </a:rPr>
              <a:t>Emergency Resources</a:t>
            </a:r>
            <a:endParaRPr lang="en-ZA" dirty="0">
              <a:solidFill>
                <a:schemeClr val="accent2"/>
              </a:solidFill>
            </a:endParaRPr>
          </a:p>
        </p:txBody>
      </p:sp>
      <p:sp>
        <p:nvSpPr>
          <p:cNvPr id="17" name="TextBox 16">
            <a:extLst>
              <a:ext uri="{FF2B5EF4-FFF2-40B4-BE49-F238E27FC236}">
                <a16:creationId xmlns:a16="http://schemas.microsoft.com/office/drawing/2014/main" id="{03E97E3F-2AB2-DC67-98A5-9AABFDC15FCA}"/>
              </a:ext>
            </a:extLst>
          </p:cNvPr>
          <p:cNvSpPr txBox="1"/>
          <p:nvPr/>
        </p:nvSpPr>
        <p:spPr>
          <a:xfrm>
            <a:off x="2949468" y="1334610"/>
            <a:ext cx="1305166" cy="738664"/>
          </a:xfrm>
          <a:prstGeom prst="rect">
            <a:avLst/>
          </a:prstGeom>
          <a:noFill/>
        </p:spPr>
        <p:txBody>
          <a:bodyPr wrap="square" rtlCol="0">
            <a:spAutoFit/>
          </a:bodyPr>
          <a:lstStyle/>
          <a:p>
            <a:r>
              <a:rPr lang="en-ZA" dirty="0">
                <a:solidFill>
                  <a:schemeClr val="accent2"/>
                </a:solidFill>
              </a:rPr>
              <a:t>A</a:t>
            </a:r>
            <a:r>
              <a:rPr lang="en-ZA" b="1" dirty="0">
                <a:solidFill>
                  <a:schemeClr val="accent2"/>
                </a:solidFill>
                <a:effectLst/>
              </a:rPr>
              <a:t>nonymity and Privacy</a:t>
            </a:r>
            <a:endParaRPr lang="en-ZA" dirty="0">
              <a:solidFill>
                <a:schemeClr val="accent2"/>
              </a:solidFill>
            </a:endParaRPr>
          </a:p>
          <a:p>
            <a:endParaRPr lang="en-ZA" dirty="0">
              <a:solidFill>
                <a:schemeClr val="accent2"/>
              </a:solidFill>
            </a:endParaRPr>
          </a:p>
        </p:txBody>
      </p:sp>
      <p:sp>
        <p:nvSpPr>
          <p:cNvPr id="18" name="TextBox 17">
            <a:extLst>
              <a:ext uri="{FF2B5EF4-FFF2-40B4-BE49-F238E27FC236}">
                <a16:creationId xmlns:a16="http://schemas.microsoft.com/office/drawing/2014/main" id="{C189D4FB-679E-A20C-462C-C9089FEC5A4A}"/>
              </a:ext>
            </a:extLst>
          </p:cNvPr>
          <p:cNvSpPr txBox="1"/>
          <p:nvPr/>
        </p:nvSpPr>
        <p:spPr>
          <a:xfrm>
            <a:off x="5208479" y="1300586"/>
            <a:ext cx="1305166" cy="738664"/>
          </a:xfrm>
          <a:prstGeom prst="rect">
            <a:avLst/>
          </a:prstGeom>
          <a:noFill/>
        </p:spPr>
        <p:txBody>
          <a:bodyPr wrap="square" rtlCol="0">
            <a:spAutoFit/>
          </a:bodyPr>
          <a:lstStyle/>
          <a:p>
            <a:r>
              <a:rPr lang="en-ZA" b="1" dirty="0">
                <a:solidFill>
                  <a:schemeClr val="accent2"/>
                </a:solidFill>
                <a:effectLst/>
              </a:rPr>
              <a:t>Community Support</a:t>
            </a:r>
            <a:endParaRPr lang="en-ZA" dirty="0">
              <a:solidFill>
                <a:schemeClr val="accent2"/>
              </a:solidFill>
            </a:endParaRPr>
          </a:p>
          <a:p>
            <a:endParaRPr lang="en-ZA" dirty="0">
              <a:solidFill>
                <a:schemeClr val="accent2"/>
              </a:solidFill>
            </a:endParaRPr>
          </a:p>
        </p:txBody>
      </p:sp>
      <p:sp>
        <p:nvSpPr>
          <p:cNvPr id="19" name="TextBox 18">
            <a:extLst>
              <a:ext uri="{FF2B5EF4-FFF2-40B4-BE49-F238E27FC236}">
                <a16:creationId xmlns:a16="http://schemas.microsoft.com/office/drawing/2014/main" id="{EEB5BBAE-7078-7AD0-F54E-46129C0D8D80}"/>
              </a:ext>
            </a:extLst>
          </p:cNvPr>
          <p:cNvSpPr txBox="1"/>
          <p:nvPr/>
        </p:nvSpPr>
        <p:spPr>
          <a:xfrm>
            <a:off x="7457789" y="1259388"/>
            <a:ext cx="1552967" cy="738664"/>
          </a:xfrm>
          <a:prstGeom prst="rect">
            <a:avLst/>
          </a:prstGeom>
          <a:noFill/>
        </p:spPr>
        <p:txBody>
          <a:bodyPr wrap="square" rtlCol="0">
            <a:spAutoFit/>
          </a:bodyPr>
          <a:lstStyle/>
          <a:p>
            <a:r>
              <a:rPr lang="en-ZA" b="1" dirty="0">
                <a:solidFill>
                  <a:schemeClr val="accent2"/>
                </a:solidFill>
                <a:effectLst/>
              </a:rPr>
              <a:t>Education and Prevention</a:t>
            </a:r>
            <a:endParaRPr lang="en-ZA" dirty="0">
              <a:solidFill>
                <a:schemeClr val="accent2"/>
              </a:solidFill>
            </a:endParaRPr>
          </a:p>
          <a:p>
            <a:endParaRPr lang="en-ZA" dirty="0">
              <a:solidFill>
                <a:schemeClr val="accent2"/>
              </a:solidFill>
            </a:endParaRPr>
          </a:p>
        </p:txBody>
      </p:sp>
      <p:sp>
        <p:nvSpPr>
          <p:cNvPr id="20" name="TextBox 19">
            <a:extLst>
              <a:ext uri="{FF2B5EF4-FFF2-40B4-BE49-F238E27FC236}">
                <a16:creationId xmlns:a16="http://schemas.microsoft.com/office/drawing/2014/main" id="{390CFB9D-3ED8-E67F-1470-F23DB5FEC4F3}"/>
              </a:ext>
            </a:extLst>
          </p:cNvPr>
          <p:cNvSpPr txBox="1"/>
          <p:nvPr/>
        </p:nvSpPr>
        <p:spPr>
          <a:xfrm>
            <a:off x="100991" y="2251817"/>
            <a:ext cx="2090962" cy="1169551"/>
          </a:xfrm>
          <a:prstGeom prst="rect">
            <a:avLst/>
          </a:prstGeom>
          <a:noFill/>
        </p:spPr>
        <p:txBody>
          <a:bodyPr wrap="square" rtlCol="0">
            <a:spAutoFit/>
          </a:bodyPr>
          <a:lstStyle/>
          <a:p>
            <a:pPr algn="ctr"/>
            <a:r>
              <a:rPr lang="en-US" dirty="0">
                <a:solidFill>
                  <a:srgbClr val="FFFFFF"/>
                </a:solidFill>
                <a:effectLst/>
              </a:rPr>
              <a:t>SafeCircle provides a panic button, real-time location tracking, and a 24/7 helpline for immediate assistance.</a:t>
            </a:r>
            <a:endParaRPr lang="en-US" dirty="0"/>
          </a:p>
        </p:txBody>
      </p:sp>
      <p:sp>
        <p:nvSpPr>
          <p:cNvPr id="21" name="TextBox 20">
            <a:extLst>
              <a:ext uri="{FF2B5EF4-FFF2-40B4-BE49-F238E27FC236}">
                <a16:creationId xmlns:a16="http://schemas.microsoft.com/office/drawing/2014/main" id="{C54ABCFE-1BB2-F62F-B772-928FB23A5401}"/>
              </a:ext>
            </a:extLst>
          </p:cNvPr>
          <p:cNvSpPr txBox="1"/>
          <p:nvPr/>
        </p:nvSpPr>
        <p:spPr>
          <a:xfrm>
            <a:off x="2400588" y="2341400"/>
            <a:ext cx="2246473" cy="1384995"/>
          </a:xfrm>
          <a:prstGeom prst="rect">
            <a:avLst/>
          </a:prstGeom>
          <a:noFill/>
        </p:spPr>
        <p:txBody>
          <a:bodyPr wrap="square" rtlCol="0">
            <a:spAutoFit/>
          </a:bodyPr>
          <a:lstStyle/>
          <a:p>
            <a:pPr algn="ctr"/>
            <a:r>
              <a:rPr lang="en-US" dirty="0">
                <a:solidFill>
                  <a:srgbClr val="FFFFFF"/>
                </a:solidFill>
                <a:effectLst/>
              </a:rPr>
              <a:t>The app offers anonymous reporting and secure communication to ensure victims feel safe in seeking help</a:t>
            </a:r>
            <a:endParaRPr lang="en-US" dirty="0"/>
          </a:p>
          <a:p>
            <a:pPr algn="ctr"/>
            <a:endParaRPr lang="en-US" dirty="0"/>
          </a:p>
        </p:txBody>
      </p:sp>
      <p:sp>
        <p:nvSpPr>
          <p:cNvPr id="22" name="TextBox 21">
            <a:extLst>
              <a:ext uri="{FF2B5EF4-FFF2-40B4-BE49-F238E27FC236}">
                <a16:creationId xmlns:a16="http://schemas.microsoft.com/office/drawing/2014/main" id="{F3BC905B-6EF5-645C-9545-126956877800}"/>
              </a:ext>
            </a:extLst>
          </p:cNvPr>
          <p:cNvSpPr txBox="1"/>
          <p:nvPr/>
        </p:nvSpPr>
        <p:spPr>
          <a:xfrm>
            <a:off x="4737826" y="2298628"/>
            <a:ext cx="2246473" cy="1384995"/>
          </a:xfrm>
          <a:prstGeom prst="rect">
            <a:avLst/>
          </a:prstGeom>
          <a:noFill/>
        </p:spPr>
        <p:txBody>
          <a:bodyPr wrap="square" rtlCol="0">
            <a:spAutoFit/>
          </a:bodyPr>
          <a:lstStyle/>
          <a:p>
            <a:pPr algn="ctr"/>
            <a:r>
              <a:rPr lang="en-US" dirty="0">
                <a:solidFill>
                  <a:srgbClr val="FFFFFF"/>
                </a:solidFill>
                <a:effectLst/>
              </a:rPr>
              <a:t>SafeCircle fosters a community-driven approach by connecting users with support agencies and resources.</a:t>
            </a:r>
            <a:endParaRPr lang="en-US" dirty="0"/>
          </a:p>
          <a:p>
            <a:pPr algn="ctr"/>
            <a:endParaRPr lang="en-US" dirty="0"/>
          </a:p>
        </p:txBody>
      </p:sp>
      <p:sp>
        <p:nvSpPr>
          <p:cNvPr id="23" name="TextBox 22">
            <a:extLst>
              <a:ext uri="{FF2B5EF4-FFF2-40B4-BE49-F238E27FC236}">
                <a16:creationId xmlns:a16="http://schemas.microsoft.com/office/drawing/2014/main" id="{F969EDA6-09E4-5337-3C1A-B988E7A14F39}"/>
              </a:ext>
            </a:extLst>
          </p:cNvPr>
          <p:cNvSpPr txBox="1"/>
          <p:nvPr/>
        </p:nvSpPr>
        <p:spPr>
          <a:xfrm>
            <a:off x="7039360" y="2359776"/>
            <a:ext cx="2246473" cy="1384995"/>
          </a:xfrm>
          <a:prstGeom prst="rect">
            <a:avLst/>
          </a:prstGeom>
          <a:noFill/>
        </p:spPr>
        <p:txBody>
          <a:bodyPr wrap="square" rtlCol="0">
            <a:spAutoFit/>
          </a:bodyPr>
          <a:lstStyle/>
          <a:p>
            <a:pPr algn="ctr"/>
            <a:r>
              <a:rPr lang="en-US" dirty="0">
                <a:solidFill>
                  <a:srgbClr val="FFFFFF"/>
                </a:solidFill>
                <a:effectLst/>
              </a:rPr>
              <a:t>The app includes educational content on GBV, helping to raise awareness and prevent future incidents.</a:t>
            </a:r>
            <a:endParaRPr lang="en-US" dirty="0"/>
          </a:p>
          <a:p>
            <a:pPr algn="ct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47"/>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9</a:t>
            </a:fld>
            <a:endParaRPr/>
          </a:p>
        </p:txBody>
      </p:sp>
      <p:sp>
        <p:nvSpPr>
          <p:cNvPr id="475" name="Google Shape;475;p47"/>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 </a:t>
            </a:r>
            <a:endParaRPr dirty="0"/>
          </a:p>
        </p:txBody>
      </p:sp>
      <p:sp>
        <p:nvSpPr>
          <p:cNvPr id="476" name="Google Shape;476;p47"/>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477" name="Google Shape;477;p47"/>
          <p:cNvSpPr txBox="1">
            <a:spLocks noGrp="1"/>
          </p:cNvSpPr>
          <p:nvPr>
            <p:ph type="title"/>
          </p:nvPr>
        </p:nvSpPr>
        <p:spPr>
          <a:xfrm>
            <a:off x="3620638" y="108761"/>
            <a:ext cx="4416486"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Community Impact</a:t>
            </a:r>
            <a:endParaRPr dirty="0"/>
          </a:p>
        </p:txBody>
      </p:sp>
      <p:sp>
        <p:nvSpPr>
          <p:cNvPr id="23" name="Google Shape;355;p39">
            <a:extLst>
              <a:ext uri="{FF2B5EF4-FFF2-40B4-BE49-F238E27FC236}">
                <a16:creationId xmlns:a16="http://schemas.microsoft.com/office/drawing/2014/main" id="{923C3B12-8F29-9993-3BFF-2319BF0E8764}"/>
              </a:ext>
            </a:extLst>
          </p:cNvPr>
          <p:cNvSpPr/>
          <p:nvPr/>
        </p:nvSpPr>
        <p:spPr>
          <a:xfrm>
            <a:off x="7981439" y="-15660"/>
            <a:ext cx="1142906" cy="1070612"/>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4" name="Google Shape;358;p39">
            <a:extLst>
              <a:ext uri="{FF2B5EF4-FFF2-40B4-BE49-F238E27FC236}">
                <a16:creationId xmlns:a16="http://schemas.microsoft.com/office/drawing/2014/main" id="{6FDB43D0-D5AE-6C12-099C-24DDB2FA9DE8}"/>
              </a:ext>
            </a:extLst>
          </p:cNvPr>
          <p:cNvSpPr txBox="1">
            <a:spLocks/>
          </p:cNvSpPr>
          <p:nvPr/>
        </p:nvSpPr>
        <p:spPr>
          <a:xfrm>
            <a:off x="7981439" y="134146"/>
            <a:ext cx="1027200" cy="771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1pPr>
            <a:lvl2pPr marL="914400" marR="0" lvl="1"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2pPr>
            <a:lvl3pPr marL="1371600" marR="0" lvl="2"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3pPr>
            <a:lvl4pPr marL="1828800" marR="0" lvl="3"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4pPr>
            <a:lvl5pPr marL="2286000" marR="0" lvl="4"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5pPr>
            <a:lvl6pPr marL="2743200" marR="0" lvl="5"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6pPr>
            <a:lvl7pPr marL="3200400" marR="0" lvl="6"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7pPr>
            <a:lvl8pPr marL="3657600" marR="0" lvl="7"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8pPr>
            <a:lvl9pPr marL="4114800" marR="0" lvl="8"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9pPr>
          </a:lstStyle>
          <a:p>
            <a:pPr marL="0" indent="0" algn="ctr"/>
            <a:r>
              <a:rPr lang="en" sz="3600" dirty="0">
                <a:latin typeface="Poppins SemiBold" panose="00000700000000000000" pitchFamily="2" charset="0"/>
                <a:cs typeface="Poppins SemiBold" panose="00000700000000000000" pitchFamily="2" charset="0"/>
              </a:rPr>
              <a:t>06</a:t>
            </a:r>
          </a:p>
        </p:txBody>
      </p:sp>
      <p:pic>
        <p:nvPicPr>
          <p:cNvPr id="25" name="Picture 24">
            <a:extLst>
              <a:ext uri="{FF2B5EF4-FFF2-40B4-BE49-F238E27FC236}">
                <a16:creationId xmlns:a16="http://schemas.microsoft.com/office/drawing/2014/main" id="{0C9DCF4C-57FE-2FE5-BE71-4847BA377904}"/>
              </a:ext>
            </a:extLst>
          </p:cNvPr>
          <p:cNvPicPr>
            <a:picLocks noChangeAspect="1"/>
          </p:cNvPicPr>
          <p:nvPr/>
        </p:nvPicPr>
        <p:blipFill>
          <a:blip r:embed="rId3"/>
          <a:stretch>
            <a:fillRect/>
          </a:stretch>
        </p:blipFill>
        <p:spPr>
          <a:xfrm>
            <a:off x="-178431" y="3278786"/>
            <a:ext cx="2840982" cy="2304488"/>
          </a:xfrm>
          <a:prstGeom prst="rect">
            <a:avLst/>
          </a:prstGeom>
        </p:spPr>
      </p:pic>
      <p:sp>
        <p:nvSpPr>
          <p:cNvPr id="26" name="Rectangle 25">
            <a:extLst>
              <a:ext uri="{FF2B5EF4-FFF2-40B4-BE49-F238E27FC236}">
                <a16:creationId xmlns:a16="http://schemas.microsoft.com/office/drawing/2014/main" id="{3C7AD6B7-E9B5-7429-22C4-A64EE0274E29}"/>
              </a:ext>
            </a:extLst>
          </p:cNvPr>
          <p:cNvSpPr/>
          <p:nvPr/>
        </p:nvSpPr>
        <p:spPr>
          <a:xfrm>
            <a:off x="1161387" y="946004"/>
            <a:ext cx="3331775" cy="1783080"/>
          </a:xfrm>
          <a:prstGeom prst="rect">
            <a:avLst/>
          </a:prstGeom>
          <a:solidFill>
            <a:schemeClr val="accent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sz="1400" dirty="0">
              <a:solidFill>
                <a:schemeClr val="tx1">
                  <a:lumMod val="49000"/>
                </a:schemeClr>
              </a:solidFill>
              <a:ea typeface="+mn-lt"/>
              <a:cs typeface="+mn-lt"/>
            </a:endParaRPr>
          </a:p>
        </p:txBody>
      </p:sp>
      <p:sp>
        <p:nvSpPr>
          <p:cNvPr id="27" name="Rectangle 26">
            <a:extLst>
              <a:ext uri="{FF2B5EF4-FFF2-40B4-BE49-F238E27FC236}">
                <a16:creationId xmlns:a16="http://schemas.microsoft.com/office/drawing/2014/main" id="{F757F030-5836-0414-03B8-0D66D40D919F}"/>
              </a:ext>
            </a:extLst>
          </p:cNvPr>
          <p:cNvSpPr/>
          <p:nvPr/>
        </p:nvSpPr>
        <p:spPr>
          <a:xfrm>
            <a:off x="2379984" y="2833474"/>
            <a:ext cx="3331775" cy="1783080"/>
          </a:xfrm>
          <a:prstGeom prst="rect">
            <a:avLst/>
          </a:prstGeom>
          <a:solidFill>
            <a:schemeClr val="accent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8" name="Rectangle 27">
            <a:extLst>
              <a:ext uri="{FF2B5EF4-FFF2-40B4-BE49-F238E27FC236}">
                <a16:creationId xmlns:a16="http://schemas.microsoft.com/office/drawing/2014/main" id="{DE499111-D937-5CB0-6A7A-B74796326190}"/>
              </a:ext>
            </a:extLst>
          </p:cNvPr>
          <p:cNvSpPr/>
          <p:nvPr/>
        </p:nvSpPr>
        <p:spPr>
          <a:xfrm>
            <a:off x="4581240" y="946004"/>
            <a:ext cx="3331775" cy="1783080"/>
          </a:xfrm>
          <a:prstGeom prst="rect">
            <a:avLst/>
          </a:prstGeom>
          <a:solidFill>
            <a:schemeClr val="accent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9" name="Rectangle 28">
            <a:extLst>
              <a:ext uri="{FF2B5EF4-FFF2-40B4-BE49-F238E27FC236}">
                <a16:creationId xmlns:a16="http://schemas.microsoft.com/office/drawing/2014/main" id="{8F37E7E2-0EDD-3823-FC53-EE77A33A6C5B}"/>
              </a:ext>
            </a:extLst>
          </p:cNvPr>
          <p:cNvSpPr/>
          <p:nvPr/>
        </p:nvSpPr>
        <p:spPr>
          <a:xfrm>
            <a:off x="5828881" y="2840774"/>
            <a:ext cx="3331775" cy="1783080"/>
          </a:xfrm>
          <a:prstGeom prst="rect">
            <a:avLst/>
          </a:prstGeom>
          <a:solidFill>
            <a:schemeClr val="accent1">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0" name="TextBox 29">
            <a:extLst>
              <a:ext uri="{FF2B5EF4-FFF2-40B4-BE49-F238E27FC236}">
                <a16:creationId xmlns:a16="http://schemas.microsoft.com/office/drawing/2014/main" id="{8B9BC05C-1612-55CF-F08D-B0B0C5AC19CA}"/>
              </a:ext>
            </a:extLst>
          </p:cNvPr>
          <p:cNvSpPr txBox="1"/>
          <p:nvPr/>
        </p:nvSpPr>
        <p:spPr>
          <a:xfrm>
            <a:off x="1428750" y="952796"/>
            <a:ext cx="2914650" cy="307777"/>
          </a:xfrm>
          <a:prstGeom prst="rect">
            <a:avLst/>
          </a:prstGeom>
          <a:noFill/>
        </p:spPr>
        <p:txBody>
          <a:bodyPr wrap="square" rtlCol="0">
            <a:spAutoFit/>
          </a:bodyPr>
          <a:lstStyle/>
          <a:p>
            <a:r>
              <a:rPr lang="en-US" sz="1400" dirty="0">
                <a:solidFill>
                  <a:schemeClr val="accent2"/>
                </a:solidFill>
                <a:latin typeface="Poppins SemiBold" panose="00000700000000000000" pitchFamily="2" charset="0"/>
                <a:ea typeface="+mn-lt"/>
                <a:cs typeface="Poppins SemiBold" panose="00000700000000000000" pitchFamily="2" charset="0"/>
              </a:rPr>
              <a:t>Breaking the Cycle of Silence</a:t>
            </a:r>
            <a:endParaRPr lang="en-ZA" dirty="0">
              <a:solidFill>
                <a:schemeClr val="accent2"/>
              </a:solidFill>
              <a:latin typeface="Poppins SemiBold" panose="00000700000000000000" pitchFamily="2" charset="0"/>
              <a:cs typeface="Poppins SemiBold" panose="00000700000000000000" pitchFamily="2" charset="0"/>
            </a:endParaRPr>
          </a:p>
        </p:txBody>
      </p:sp>
      <p:sp>
        <p:nvSpPr>
          <p:cNvPr id="31" name="TextBox 30">
            <a:extLst>
              <a:ext uri="{FF2B5EF4-FFF2-40B4-BE49-F238E27FC236}">
                <a16:creationId xmlns:a16="http://schemas.microsoft.com/office/drawing/2014/main" id="{878982B6-648D-41DF-F90B-6A289B192097}"/>
              </a:ext>
            </a:extLst>
          </p:cNvPr>
          <p:cNvSpPr txBox="1"/>
          <p:nvPr/>
        </p:nvSpPr>
        <p:spPr>
          <a:xfrm>
            <a:off x="4789802" y="971461"/>
            <a:ext cx="2914650" cy="307777"/>
          </a:xfrm>
          <a:prstGeom prst="rect">
            <a:avLst/>
          </a:prstGeom>
          <a:noFill/>
        </p:spPr>
        <p:txBody>
          <a:bodyPr wrap="square" rtlCol="0">
            <a:spAutoFit/>
          </a:bodyPr>
          <a:lstStyle/>
          <a:p>
            <a:r>
              <a:rPr lang="en-US" dirty="0">
                <a:solidFill>
                  <a:schemeClr val="accent2"/>
                </a:solidFill>
                <a:latin typeface="Poppins SemiBold" panose="00000700000000000000" pitchFamily="2" charset="0"/>
                <a:ea typeface="+mn-lt"/>
                <a:cs typeface="Poppins SemiBold" panose="00000700000000000000" pitchFamily="2" charset="0"/>
              </a:rPr>
              <a:t>Coordinated Response </a:t>
            </a:r>
            <a:endParaRPr lang="en-ZA" dirty="0">
              <a:solidFill>
                <a:schemeClr val="accent2"/>
              </a:solidFill>
              <a:latin typeface="Poppins SemiBold" panose="00000700000000000000" pitchFamily="2" charset="0"/>
              <a:cs typeface="Poppins SemiBold" panose="00000700000000000000" pitchFamily="2" charset="0"/>
            </a:endParaRPr>
          </a:p>
        </p:txBody>
      </p:sp>
      <p:sp>
        <p:nvSpPr>
          <p:cNvPr id="32" name="TextBox 31">
            <a:extLst>
              <a:ext uri="{FF2B5EF4-FFF2-40B4-BE49-F238E27FC236}">
                <a16:creationId xmlns:a16="http://schemas.microsoft.com/office/drawing/2014/main" id="{9A14BDAC-B7E3-FB43-365A-BA7FDAFDBE39}"/>
              </a:ext>
            </a:extLst>
          </p:cNvPr>
          <p:cNvSpPr txBox="1"/>
          <p:nvPr/>
        </p:nvSpPr>
        <p:spPr>
          <a:xfrm>
            <a:off x="2662551" y="2876023"/>
            <a:ext cx="2914650" cy="307777"/>
          </a:xfrm>
          <a:prstGeom prst="rect">
            <a:avLst/>
          </a:prstGeom>
          <a:noFill/>
        </p:spPr>
        <p:txBody>
          <a:bodyPr wrap="square" rtlCol="0">
            <a:spAutoFit/>
          </a:bodyPr>
          <a:lstStyle/>
          <a:p>
            <a:r>
              <a:rPr lang="en-US" dirty="0">
                <a:solidFill>
                  <a:schemeClr val="accent2"/>
                </a:solidFill>
                <a:latin typeface="Poppins SemiBold" panose="00000700000000000000" pitchFamily="2" charset="0"/>
                <a:ea typeface="+mn-lt"/>
                <a:cs typeface="Poppins SemiBold" panose="00000700000000000000" pitchFamily="2" charset="0"/>
              </a:rPr>
              <a:t>Prevention Through Education</a:t>
            </a:r>
            <a:endParaRPr lang="en-ZA" dirty="0">
              <a:solidFill>
                <a:schemeClr val="accent2"/>
              </a:solidFill>
              <a:latin typeface="Poppins SemiBold" panose="00000700000000000000" pitchFamily="2" charset="0"/>
              <a:cs typeface="Poppins SemiBold" panose="00000700000000000000" pitchFamily="2" charset="0"/>
            </a:endParaRPr>
          </a:p>
        </p:txBody>
      </p:sp>
      <p:sp>
        <p:nvSpPr>
          <p:cNvPr id="33" name="TextBox 32">
            <a:extLst>
              <a:ext uri="{FF2B5EF4-FFF2-40B4-BE49-F238E27FC236}">
                <a16:creationId xmlns:a16="http://schemas.microsoft.com/office/drawing/2014/main" id="{293AADE4-A9BB-D49F-4BED-E99CBF00498E}"/>
              </a:ext>
            </a:extLst>
          </p:cNvPr>
          <p:cNvSpPr txBox="1"/>
          <p:nvPr/>
        </p:nvSpPr>
        <p:spPr>
          <a:xfrm>
            <a:off x="6113644" y="2879209"/>
            <a:ext cx="2914650" cy="307777"/>
          </a:xfrm>
          <a:prstGeom prst="rect">
            <a:avLst/>
          </a:prstGeom>
          <a:noFill/>
        </p:spPr>
        <p:txBody>
          <a:bodyPr wrap="square" rtlCol="0">
            <a:spAutoFit/>
          </a:bodyPr>
          <a:lstStyle/>
          <a:p>
            <a:r>
              <a:rPr lang="en-US" dirty="0">
                <a:solidFill>
                  <a:schemeClr val="accent2"/>
                </a:solidFill>
                <a:latin typeface="Poppins SemiBold" panose="00000700000000000000" pitchFamily="2" charset="0"/>
                <a:ea typeface="+mn-lt"/>
                <a:cs typeface="Poppins SemiBold" panose="00000700000000000000" pitchFamily="2" charset="0"/>
              </a:rPr>
              <a:t>Sustainable Support </a:t>
            </a:r>
            <a:endParaRPr lang="en-ZA" dirty="0">
              <a:solidFill>
                <a:schemeClr val="accent2"/>
              </a:solidFill>
              <a:latin typeface="Poppins SemiBold" panose="00000700000000000000" pitchFamily="2" charset="0"/>
              <a:cs typeface="Poppins SemiBold" panose="00000700000000000000" pitchFamily="2" charset="0"/>
            </a:endParaRPr>
          </a:p>
        </p:txBody>
      </p:sp>
      <p:sp>
        <p:nvSpPr>
          <p:cNvPr id="34" name="TextBox 33">
            <a:extLst>
              <a:ext uri="{FF2B5EF4-FFF2-40B4-BE49-F238E27FC236}">
                <a16:creationId xmlns:a16="http://schemas.microsoft.com/office/drawing/2014/main" id="{90F984C1-F60C-6324-BD6E-E41D0293C623}"/>
              </a:ext>
            </a:extLst>
          </p:cNvPr>
          <p:cNvSpPr txBox="1"/>
          <p:nvPr/>
        </p:nvSpPr>
        <p:spPr>
          <a:xfrm>
            <a:off x="1428750" y="1371922"/>
            <a:ext cx="2762250" cy="1046440"/>
          </a:xfrm>
          <a:prstGeom prst="rect">
            <a:avLst/>
          </a:prstGeom>
          <a:noFill/>
        </p:spPr>
        <p:txBody>
          <a:bodyPr wrap="square" rtlCol="0">
            <a:spAutoFit/>
          </a:bodyPr>
          <a:lstStyle/>
          <a:p>
            <a:r>
              <a:rPr lang="en-ZA" dirty="0">
                <a:solidFill>
                  <a:schemeClr val="accent6">
                    <a:lumMod val="95000"/>
                  </a:schemeClr>
                </a:solidFill>
                <a:latin typeface="Poppins" panose="00000500000000000000" pitchFamily="2" charset="0"/>
                <a:cs typeface="Poppins" panose="00000500000000000000" pitchFamily="2" charset="0"/>
              </a:rPr>
              <a:t>SafeCircle</a:t>
            </a:r>
            <a:r>
              <a:rPr lang="en-ZA" sz="1200" dirty="0">
                <a:solidFill>
                  <a:schemeClr val="accent6">
                    <a:lumMod val="95000"/>
                  </a:schemeClr>
                </a:solidFill>
                <a:latin typeface="Poppins" panose="00000500000000000000" pitchFamily="2" charset="0"/>
                <a:cs typeface="Poppins" panose="00000500000000000000" pitchFamily="2" charset="0"/>
              </a:rPr>
              <a:t> empowers survivors to speak up against GBV, helping to break the cycle of silence and encourage communities to take action against GBV</a:t>
            </a:r>
            <a:endParaRPr lang="en-ZA" dirty="0">
              <a:solidFill>
                <a:schemeClr val="accent6">
                  <a:lumMod val="95000"/>
                </a:schemeClr>
              </a:solidFill>
              <a:latin typeface="Poppins" panose="00000500000000000000" pitchFamily="2" charset="0"/>
              <a:cs typeface="Poppins" panose="00000500000000000000" pitchFamily="2" charset="0"/>
            </a:endParaRPr>
          </a:p>
        </p:txBody>
      </p:sp>
      <p:sp>
        <p:nvSpPr>
          <p:cNvPr id="35" name="TextBox 34">
            <a:extLst>
              <a:ext uri="{FF2B5EF4-FFF2-40B4-BE49-F238E27FC236}">
                <a16:creationId xmlns:a16="http://schemas.microsoft.com/office/drawing/2014/main" id="{FBFA1E05-5362-BE4B-4CA9-CC9B70EAB649}"/>
              </a:ext>
            </a:extLst>
          </p:cNvPr>
          <p:cNvSpPr txBox="1"/>
          <p:nvPr/>
        </p:nvSpPr>
        <p:spPr>
          <a:xfrm>
            <a:off x="4732519" y="1352581"/>
            <a:ext cx="2762250" cy="1169551"/>
          </a:xfrm>
          <a:prstGeom prst="rect">
            <a:avLst/>
          </a:prstGeom>
          <a:noFill/>
        </p:spPr>
        <p:txBody>
          <a:bodyPr wrap="square" rtlCol="0">
            <a:spAutoFit/>
          </a:bodyPr>
          <a:lstStyle/>
          <a:p>
            <a:r>
              <a:rPr lang="en-ZA" dirty="0">
                <a:solidFill>
                  <a:schemeClr val="accent6">
                    <a:lumMod val="95000"/>
                  </a:schemeClr>
                </a:solidFill>
                <a:latin typeface="Poppins" panose="00000500000000000000" pitchFamily="2" charset="0"/>
                <a:cs typeface="Poppins" panose="00000500000000000000" pitchFamily="2" charset="0"/>
              </a:rPr>
              <a:t>The app </a:t>
            </a:r>
            <a:r>
              <a:rPr lang="en-US" dirty="0">
                <a:solidFill>
                  <a:schemeClr val="accent6">
                    <a:lumMod val="95000"/>
                  </a:schemeClr>
                </a:solidFill>
                <a:latin typeface="Poppins" panose="00000500000000000000" pitchFamily="2" charset="0"/>
                <a:ea typeface="+mn-lt"/>
                <a:cs typeface="+mn-lt"/>
              </a:rPr>
              <a:t>c</a:t>
            </a:r>
            <a:r>
              <a:rPr lang="en-US" sz="1400" dirty="0">
                <a:solidFill>
                  <a:schemeClr val="accent6">
                    <a:lumMod val="95000"/>
                  </a:schemeClr>
                </a:solidFill>
                <a:ea typeface="+mn-lt"/>
                <a:cs typeface="+mn-lt"/>
              </a:rPr>
              <a:t>onnects disparate support services, reducing intervention time from 27+ minutes to under 8 minutes.</a:t>
            </a:r>
            <a:endParaRPr lang="en-US" dirty="0">
              <a:solidFill>
                <a:schemeClr val="accent6">
                  <a:lumMod val="95000"/>
                </a:schemeClr>
              </a:solidFill>
              <a:ea typeface="+mn-lt"/>
              <a:cs typeface="+mn-lt"/>
            </a:endParaRPr>
          </a:p>
          <a:p>
            <a:endParaRPr lang="en-ZA" dirty="0">
              <a:solidFill>
                <a:schemeClr val="accent6">
                  <a:lumMod val="95000"/>
                </a:schemeClr>
              </a:solidFill>
              <a:latin typeface="Poppins" panose="00000500000000000000" pitchFamily="2" charset="0"/>
              <a:cs typeface="Poppins" panose="00000500000000000000" pitchFamily="2" charset="0"/>
            </a:endParaRPr>
          </a:p>
        </p:txBody>
      </p:sp>
      <p:sp>
        <p:nvSpPr>
          <p:cNvPr id="36" name="TextBox 35">
            <a:extLst>
              <a:ext uri="{FF2B5EF4-FFF2-40B4-BE49-F238E27FC236}">
                <a16:creationId xmlns:a16="http://schemas.microsoft.com/office/drawing/2014/main" id="{3DD0D784-9C23-5D6F-F6CD-33BC1DBF4676}"/>
              </a:ext>
            </a:extLst>
          </p:cNvPr>
          <p:cNvSpPr txBox="1"/>
          <p:nvPr/>
        </p:nvSpPr>
        <p:spPr>
          <a:xfrm>
            <a:off x="2664746" y="3191100"/>
            <a:ext cx="2762250" cy="954107"/>
          </a:xfrm>
          <a:prstGeom prst="rect">
            <a:avLst/>
          </a:prstGeom>
          <a:noFill/>
        </p:spPr>
        <p:txBody>
          <a:bodyPr wrap="square" rtlCol="0">
            <a:spAutoFit/>
          </a:bodyPr>
          <a:lstStyle/>
          <a:p>
            <a:r>
              <a:rPr lang="en-ZA" dirty="0">
                <a:solidFill>
                  <a:schemeClr val="accent6">
                    <a:lumMod val="95000"/>
                  </a:schemeClr>
                </a:solidFill>
                <a:latin typeface="Poppins" panose="00000500000000000000" pitchFamily="2" charset="0"/>
                <a:cs typeface="Poppins" panose="00000500000000000000" pitchFamily="2" charset="0"/>
              </a:rPr>
              <a:t>SafeCircle also </a:t>
            </a:r>
            <a:r>
              <a:rPr lang="en-US" dirty="0">
                <a:solidFill>
                  <a:schemeClr val="accent6">
                    <a:lumMod val="95000"/>
                  </a:schemeClr>
                </a:solidFill>
                <a:latin typeface="Poppins" panose="00000500000000000000" pitchFamily="2" charset="0"/>
                <a:ea typeface="+mn-lt"/>
                <a:cs typeface="+mn-lt"/>
              </a:rPr>
              <a:t>p</a:t>
            </a:r>
            <a:r>
              <a:rPr lang="en-US" sz="1400" dirty="0">
                <a:solidFill>
                  <a:schemeClr val="accent6">
                    <a:lumMod val="95000"/>
                  </a:schemeClr>
                </a:solidFill>
                <a:ea typeface="+mn-lt"/>
                <a:cs typeface="+mn-lt"/>
              </a:rPr>
              <a:t>romotes early warning sign recognition and better relationship norms all over the community.</a:t>
            </a:r>
            <a:endParaRPr lang="en-ZA" dirty="0">
              <a:solidFill>
                <a:schemeClr val="accent6">
                  <a:lumMod val="95000"/>
                </a:schemeClr>
              </a:solidFill>
              <a:latin typeface="Poppins" panose="00000500000000000000" pitchFamily="2" charset="0"/>
              <a:cs typeface="Poppins" panose="00000500000000000000" pitchFamily="2" charset="0"/>
            </a:endParaRPr>
          </a:p>
        </p:txBody>
      </p:sp>
      <p:sp>
        <p:nvSpPr>
          <p:cNvPr id="37" name="TextBox 36">
            <a:extLst>
              <a:ext uri="{FF2B5EF4-FFF2-40B4-BE49-F238E27FC236}">
                <a16:creationId xmlns:a16="http://schemas.microsoft.com/office/drawing/2014/main" id="{51E74941-0B12-F7A7-81EF-6F86187961D0}"/>
              </a:ext>
            </a:extLst>
          </p:cNvPr>
          <p:cNvSpPr txBox="1"/>
          <p:nvPr/>
        </p:nvSpPr>
        <p:spPr>
          <a:xfrm>
            <a:off x="5951800" y="3269914"/>
            <a:ext cx="2914650" cy="1169551"/>
          </a:xfrm>
          <a:prstGeom prst="rect">
            <a:avLst/>
          </a:prstGeom>
          <a:noFill/>
        </p:spPr>
        <p:txBody>
          <a:bodyPr wrap="square" rtlCol="0">
            <a:spAutoFit/>
          </a:bodyPr>
          <a:lstStyle/>
          <a:p>
            <a:r>
              <a:rPr lang="en-ZA" dirty="0">
                <a:solidFill>
                  <a:schemeClr val="accent6">
                    <a:lumMod val="95000"/>
                  </a:schemeClr>
                </a:solidFill>
                <a:latin typeface="Poppins" panose="00000500000000000000" pitchFamily="2" charset="0"/>
                <a:cs typeface="Poppins" panose="00000500000000000000" pitchFamily="2" charset="0"/>
              </a:rPr>
              <a:t>The app </a:t>
            </a:r>
            <a:r>
              <a:rPr lang="en-US" dirty="0">
                <a:solidFill>
                  <a:schemeClr val="accent6">
                    <a:lumMod val="95000"/>
                  </a:schemeClr>
                </a:solidFill>
                <a:latin typeface="Poppins" panose="00000500000000000000" pitchFamily="2" charset="0"/>
                <a:ea typeface="+mn-lt"/>
                <a:cs typeface="+mn-lt"/>
              </a:rPr>
              <a:t>f</a:t>
            </a:r>
            <a:r>
              <a:rPr lang="en-US" sz="1400" dirty="0">
                <a:solidFill>
                  <a:schemeClr val="accent6">
                    <a:lumMod val="95000"/>
                  </a:schemeClr>
                </a:solidFill>
                <a:ea typeface="+mn-lt"/>
                <a:cs typeface="+mn-lt"/>
              </a:rPr>
              <a:t>osters local capacity by engaging volunteer networks and peer support and developing long-term community resilience.</a:t>
            </a:r>
            <a:endParaRPr lang="en-US" dirty="0">
              <a:solidFill>
                <a:schemeClr val="accent6">
                  <a:lumMod val="95000"/>
                </a:schemeClr>
              </a:solidFill>
              <a:ea typeface="+mn-lt"/>
              <a:cs typeface="+mn-lt"/>
            </a:endParaRPr>
          </a:p>
          <a:p>
            <a:endParaRPr lang="en-ZA" dirty="0">
              <a:solidFill>
                <a:schemeClr val="accent6">
                  <a:lumMod val="95000"/>
                </a:schemeClr>
              </a:solidFill>
              <a:latin typeface="Poppins" panose="00000500000000000000" pitchFamily="2" charset="0"/>
              <a:cs typeface="Poppins" panose="00000500000000000000" pitchFamily="2"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9"/>
          <p:cNvSpPr txBox="1">
            <a:spLocks noGrp="1"/>
          </p:cNvSpPr>
          <p:nvPr>
            <p:ph type="title"/>
          </p:nvPr>
        </p:nvSpPr>
        <p:spPr>
          <a:xfrm>
            <a:off x="1581005" y="6850"/>
            <a:ext cx="771785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0" dirty="0"/>
              <a:t>Business Model and Support Strategy</a:t>
            </a:r>
            <a:endParaRPr dirty="0"/>
          </a:p>
        </p:txBody>
      </p:sp>
      <p:sp>
        <p:nvSpPr>
          <p:cNvPr id="547" name="Google Shape;547;p49"/>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10</a:t>
            </a:fld>
            <a:endParaRPr/>
          </a:p>
        </p:txBody>
      </p:sp>
      <p:sp>
        <p:nvSpPr>
          <p:cNvPr id="548" name="Google Shape;548;p49"/>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549" name="Google Shape;549;p49"/>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2" name="Google Shape;355;p39">
            <a:extLst>
              <a:ext uri="{FF2B5EF4-FFF2-40B4-BE49-F238E27FC236}">
                <a16:creationId xmlns:a16="http://schemas.microsoft.com/office/drawing/2014/main" id="{F7D07F36-EB22-2E27-5CCD-5A12211F3514}"/>
              </a:ext>
            </a:extLst>
          </p:cNvPr>
          <p:cNvSpPr/>
          <p:nvPr/>
        </p:nvSpPr>
        <p:spPr>
          <a:xfrm>
            <a:off x="471769" y="6850"/>
            <a:ext cx="1142906" cy="1070612"/>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Google Shape;358;p39">
            <a:extLst>
              <a:ext uri="{FF2B5EF4-FFF2-40B4-BE49-F238E27FC236}">
                <a16:creationId xmlns:a16="http://schemas.microsoft.com/office/drawing/2014/main" id="{E9BF6408-30F2-0A9B-88E4-B98AB68BA963}"/>
              </a:ext>
            </a:extLst>
          </p:cNvPr>
          <p:cNvSpPr txBox="1">
            <a:spLocks/>
          </p:cNvSpPr>
          <p:nvPr/>
        </p:nvSpPr>
        <p:spPr>
          <a:xfrm>
            <a:off x="529622" y="194050"/>
            <a:ext cx="1027200" cy="7710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1pPr>
            <a:lvl2pPr marL="914400" marR="0" lvl="1"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2pPr>
            <a:lvl3pPr marL="1371600" marR="0" lvl="2"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3pPr>
            <a:lvl4pPr marL="1828800" marR="0" lvl="3"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4pPr>
            <a:lvl5pPr marL="2286000" marR="0" lvl="4"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5pPr>
            <a:lvl6pPr marL="2743200" marR="0" lvl="5"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6pPr>
            <a:lvl7pPr marL="3200400" marR="0" lvl="6"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7pPr>
            <a:lvl8pPr marL="3657600" marR="0" lvl="7"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8pPr>
            <a:lvl9pPr marL="4114800" marR="0" lvl="8" indent="-317500" algn="r" rtl="0">
              <a:lnSpc>
                <a:spcPct val="100000"/>
              </a:lnSpc>
              <a:spcBef>
                <a:spcPts val="0"/>
              </a:spcBef>
              <a:spcAft>
                <a:spcPts val="0"/>
              </a:spcAft>
              <a:buClr>
                <a:schemeClr val="lt1"/>
              </a:buClr>
              <a:buSzPts val="1000"/>
              <a:buFont typeface="Poppins"/>
              <a:buNone/>
              <a:defRPr sz="1000" b="0" i="0" u="none" strike="noStrike" cap="none">
                <a:solidFill>
                  <a:schemeClr val="lt1"/>
                </a:solidFill>
                <a:latin typeface="Poppins"/>
                <a:ea typeface="Poppins"/>
                <a:cs typeface="Poppins"/>
                <a:sym typeface="Poppins"/>
              </a:defRPr>
            </a:lvl9pPr>
          </a:lstStyle>
          <a:p>
            <a:pPr marL="0" indent="0" algn="ctr"/>
            <a:r>
              <a:rPr lang="en" sz="3600" dirty="0">
                <a:latin typeface="Poppins SemiBold" panose="00000700000000000000" pitchFamily="2" charset="0"/>
                <a:cs typeface="Poppins SemiBold" panose="00000700000000000000" pitchFamily="2" charset="0"/>
              </a:rPr>
              <a:t>07</a:t>
            </a:r>
          </a:p>
        </p:txBody>
      </p:sp>
      <p:sp>
        <p:nvSpPr>
          <p:cNvPr id="4" name="Rectangle: Rounded Corners 3">
            <a:extLst>
              <a:ext uri="{FF2B5EF4-FFF2-40B4-BE49-F238E27FC236}">
                <a16:creationId xmlns:a16="http://schemas.microsoft.com/office/drawing/2014/main" id="{94675AC3-D497-99CE-8E13-3AE0CE9ADD82}"/>
              </a:ext>
            </a:extLst>
          </p:cNvPr>
          <p:cNvSpPr/>
          <p:nvPr/>
        </p:nvSpPr>
        <p:spPr>
          <a:xfrm>
            <a:off x="529622" y="1313568"/>
            <a:ext cx="3388357" cy="3190574"/>
          </a:xfrm>
          <a:prstGeom prst="roundRect">
            <a:avLst/>
          </a:prstGeom>
          <a:solidFill>
            <a:schemeClr val="accent2">
              <a:lumMod val="5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2"/>
                </a:solidFill>
              </a:rPr>
              <a:t>Support and Maintenance</a:t>
            </a:r>
            <a:endParaRPr lang="en-ZA" b="1" dirty="0">
              <a:solidFill>
                <a:schemeClr val="bg1"/>
              </a:solidFill>
            </a:endParaRPr>
          </a:p>
          <a:p>
            <a:pPr algn="ctr"/>
            <a:endParaRPr lang="en-ZA" b="1" dirty="0">
              <a:solidFill>
                <a:schemeClr val="bg1"/>
              </a:solidFill>
            </a:endParaRPr>
          </a:p>
          <a:p>
            <a:pPr marL="171450" indent="-171450">
              <a:buClr>
                <a:schemeClr val="accent6">
                  <a:lumMod val="95000"/>
                </a:schemeClr>
              </a:buClr>
              <a:buFont typeface="Wingdings" panose="05000000000000000000" pitchFamily="2" charset="2"/>
              <a:buChar char="Ø"/>
            </a:pPr>
            <a:r>
              <a:rPr lang="en-ZA" sz="1100" kern="200" dirty="0">
                <a:solidFill>
                  <a:schemeClr val="bg1"/>
                </a:solidFill>
                <a:latin typeface="Poppins" panose="00000500000000000000" pitchFamily="2" charset="0"/>
                <a:cs typeface="Poppins" panose="00000500000000000000" pitchFamily="2" charset="0"/>
              </a:rPr>
              <a:t>A helpdesk that is open 24 hours long</a:t>
            </a:r>
          </a:p>
          <a:p>
            <a:pPr>
              <a:buClr>
                <a:schemeClr val="accent6">
                  <a:lumMod val="95000"/>
                </a:schemeClr>
              </a:buClr>
            </a:pPr>
            <a:endParaRPr lang="en-ZA" sz="1100" kern="200" dirty="0">
              <a:solidFill>
                <a:schemeClr val="bg1"/>
              </a:solidFill>
              <a:latin typeface="Poppins" panose="00000500000000000000" pitchFamily="2" charset="0"/>
              <a:cs typeface="Poppins" panose="00000500000000000000" pitchFamily="2" charset="0"/>
            </a:endParaRPr>
          </a:p>
          <a:p>
            <a:pPr marL="171450" indent="-171450">
              <a:buClr>
                <a:schemeClr val="accent6">
                  <a:lumMod val="95000"/>
                </a:schemeClr>
              </a:buClr>
              <a:buFont typeface="Wingdings" panose="05000000000000000000" pitchFamily="2" charset="2"/>
              <a:buChar char="Ø"/>
            </a:pPr>
            <a:r>
              <a:rPr lang="en-ZA" sz="1100" kern="200" dirty="0">
                <a:solidFill>
                  <a:schemeClr val="bg1"/>
                </a:solidFill>
                <a:latin typeface="Poppins" panose="00000500000000000000" pitchFamily="2" charset="0"/>
                <a:cs typeface="Poppins" panose="00000500000000000000" pitchFamily="2" charset="0"/>
              </a:rPr>
              <a:t>Bug Reporting System</a:t>
            </a:r>
          </a:p>
          <a:p>
            <a:pPr>
              <a:buClr>
                <a:schemeClr val="accent6">
                  <a:lumMod val="95000"/>
                </a:schemeClr>
              </a:buClr>
            </a:pPr>
            <a:endParaRPr lang="en-ZA" sz="1100" kern="200" dirty="0">
              <a:solidFill>
                <a:schemeClr val="bg1"/>
              </a:solidFill>
              <a:latin typeface="Poppins" panose="00000500000000000000" pitchFamily="2" charset="0"/>
              <a:cs typeface="Poppins" panose="00000500000000000000" pitchFamily="2" charset="0"/>
            </a:endParaRPr>
          </a:p>
          <a:p>
            <a:pPr marL="171450" indent="-171450">
              <a:buClr>
                <a:schemeClr val="accent6">
                  <a:lumMod val="95000"/>
                </a:schemeClr>
              </a:buClr>
              <a:buFont typeface="Wingdings" panose="05000000000000000000" pitchFamily="2" charset="2"/>
              <a:buChar char="Ø"/>
            </a:pPr>
            <a:r>
              <a:rPr lang="en-ZA" sz="1100" kern="200" dirty="0">
                <a:solidFill>
                  <a:schemeClr val="bg1"/>
                </a:solidFill>
                <a:latin typeface="Poppins" panose="00000500000000000000" pitchFamily="2" charset="0"/>
                <a:cs typeface="Poppins" panose="00000500000000000000" pitchFamily="2" charset="0"/>
              </a:rPr>
              <a:t>Monthly Security updates</a:t>
            </a:r>
          </a:p>
          <a:p>
            <a:pPr>
              <a:buClr>
                <a:schemeClr val="accent6">
                  <a:lumMod val="95000"/>
                </a:schemeClr>
              </a:buClr>
            </a:pPr>
            <a:endParaRPr lang="en-ZA" sz="1100" kern="200" dirty="0">
              <a:solidFill>
                <a:schemeClr val="bg1"/>
              </a:solidFill>
              <a:latin typeface="Poppins" panose="00000500000000000000" pitchFamily="2" charset="0"/>
              <a:cs typeface="Poppins" panose="00000500000000000000" pitchFamily="2" charset="0"/>
            </a:endParaRPr>
          </a:p>
          <a:p>
            <a:pPr marL="171450" indent="-171450">
              <a:buClr>
                <a:schemeClr val="accent6">
                  <a:lumMod val="95000"/>
                </a:schemeClr>
              </a:buClr>
              <a:buFont typeface="Wingdings" panose="05000000000000000000" pitchFamily="2" charset="2"/>
              <a:buChar char="Ø"/>
            </a:pPr>
            <a:r>
              <a:rPr lang="en-ZA" sz="1100" kern="200" dirty="0">
                <a:solidFill>
                  <a:schemeClr val="bg1"/>
                </a:solidFill>
                <a:latin typeface="Poppins" panose="00000500000000000000" pitchFamily="2" charset="0"/>
                <a:cs typeface="Poppins" panose="00000500000000000000" pitchFamily="2" charset="0"/>
              </a:rPr>
              <a:t>Regular surveys to receive user feedback</a:t>
            </a:r>
          </a:p>
          <a:p>
            <a:pPr>
              <a:buClr>
                <a:schemeClr val="accent6">
                  <a:lumMod val="95000"/>
                </a:schemeClr>
              </a:buClr>
            </a:pPr>
            <a:endParaRPr lang="en-ZA" sz="1100" kern="200" dirty="0">
              <a:solidFill>
                <a:schemeClr val="bg1"/>
              </a:solidFill>
              <a:latin typeface="Poppins" panose="00000500000000000000" pitchFamily="2" charset="0"/>
              <a:cs typeface="Poppins" panose="00000500000000000000" pitchFamily="2" charset="0"/>
            </a:endParaRPr>
          </a:p>
          <a:p>
            <a:pPr marL="171450" indent="-171450">
              <a:buClr>
                <a:schemeClr val="accent6">
                  <a:lumMod val="95000"/>
                </a:schemeClr>
              </a:buClr>
              <a:buFont typeface="Wingdings" panose="05000000000000000000" pitchFamily="2" charset="2"/>
              <a:buChar char="Ø"/>
            </a:pPr>
            <a:r>
              <a:rPr lang="en-ZA" sz="1100" kern="200" dirty="0">
                <a:solidFill>
                  <a:schemeClr val="bg1"/>
                </a:solidFill>
                <a:latin typeface="Poppins" panose="00000500000000000000" pitchFamily="2" charset="0"/>
                <a:cs typeface="Poppins" panose="00000500000000000000" pitchFamily="2" charset="0"/>
              </a:rPr>
              <a:t>Optimizing app speed and responsiveness</a:t>
            </a:r>
          </a:p>
          <a:p>
            <a:pPr>
              <a:buClr>
                <a:schemeClr val="accent6">
                  <a:lumMod val="95000"/>
                </a:schemeClr>
              </a:buClr>
            </a:pPr>
            <a:endParaRPr lang="en-ZA" sz="1100" kern="200" dirty="0">
              <a:solidFill>
                <a:schemeClr val="bg1"/>
              </a:solidFill>
              <a:latin typeface="Poppins" panose="00000500000000000000" pitchFamily="2" charset="0"/>
              <a:cs typeface="Poppins" panose="00000500000000000000" pitchFamily="2" charset="0"/>
            </a:endParaRPr>
          </a:p>
          <a:p>
            <a:pPr marL="171450" indent="-171450">
              <a:buClr>
                <a:schemeClr val="accent6">
                  <a:lumMod val="95000"/>
                </a:schemeClr>
              </a:buClr>
              <a:buFont typeface="Wingdings" panose="05000000000000000000" pitchFamily="2" charset="2"/>
              <a:buChar char="Ø"/>
            </a:pPr>
            <a:r>
              <a:rPr lang="en-ZA" sz="1100" kern="200" dirty="0">
                <a:solidFill>
                  <a:schemeClr val="bg1"/>
                </a:solidFill>
                <a:latin typeface="Poppins" panose="00000500000000000000" pitchFamily="2" charset="0"/>
                <a:cs typeface="Poppins" panose="00000500000000000000" pitchFamily="2" charset="0"/>
              </a:rPr>
              <a:t>Ensuring compatibility with new device and operating system</a:t>
            </a:r>
          </a:p>
        </p:txBody>
      </p:sp>
      <p:sp>
        <p:nvSpPr>
          <p:cNvPr id="5" name="Rectangle: Rounded Corners 4">
            <a:extLst>
              <a:ext uri="{FF2B5EF4-FFF2-40B4-BE49-F238E27FC236}">
                <a16:creationId xmlns:a16="http://schemas.microsoft.com/office/drawing/2014/main" id="{62F053F0-BD22-97E4-3B72-BFC0DCF1994E}"/>
              </a:ext>
            </a:extLst>
          </p:cNvPr>
          <p:cNvSpPr/>
          <p:nvPr/>
        </p:nvSpPr>
        <p:spPr>
          <a:xfrm>
            <a:off x="4437777" y="1077463"/>
            <a:ext cx="3640822" cy="3426680"/>
          </a:xfrm>
          <a:prstGeom prst="roundRect">
            <a:avLst/>
          </a:prstGeom>
          <a:solidFill>
            <a:schemeClr val="accent2">
              <a:lumMod val="50000"/>
            </a:schemeClr>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2"/>
                </a:solidFill>
              </a:rPr>
              <a:t>Funding Strategy</a:t>
            </a:r>
            <a:endParaRPr lang="en-ZA" dirty="0">
              <a:solidFill>
                <a:schemeClr val="accent2"/>
              </a:solidFill>
            </a:endParaRPr>
          </a:p>
          <a:p>
            <a:pPr marL="285750" indent="-285750" algn="ctr">
              <a:buFont typeface="Wingdings" panose="05000000000000000000" pitchFamily="2" charset="2"/>
              <a:buChar char="Ø"/>
            </a:pPr>
            <a:endParaRPr lang="en-ZA" dirty="0"/>
          </a:p>
          <a:p>
            <a:pPr marL="171450" indent="-171450">
              <a:buClr>
                <a:schemeClr val="accent6">
                  <a:lumMod val="95000"/>
                </a:schemeClr>
              </a:buClr>
              <a:buFont typeface="Wingdings" panose="05000000000000000000" pitchFamily="2" charset="2"/>
              <a:buChar char="Ø"/>
            </a:pPr>
            <a:r>
              <a:rPr lang="en-ZA" sz="1100" kern="200" dirty="0">
                <a:latin typeface="Poppins" panose="00000500000000000000" pitchFamily="2" charset="0"/>
                <a:cs typeface="Poppins" panose="00000500000000000000" pitchFamily="2" charset="0"/>
              </a:rPr>
              <a:t>Apply for grants from organizations that are focused on gender-based violence such as UN Women and Open Society Foundations</a:t>
            </a:r>
          </a:p>
          <a:p>
            <a:pPr>
              <a:buClr>
                <a:schemeClr val="accent6">
                  <a:lumMod val="95000"/>
                </a:schemeClr>
              </a:buClr>
            </a:pPr>
            <a:endParaRPr lang="en-ZA" sz="1100" kern="200" dirty="0">
              <a:latin typeface="Poppins" panose="00000500000000000000" pitchFamily="2" charset="0"/>
              <a:cs typeface="Poppins" panose="00000500000000000000" pitchFamily="2" charset="0"/>
            </a:endParaRPr>
          </a:p>
          <a:p>
            <a:pPr marL="171450" indent="-171450">
              <a:buClr>
                <a:schemeClr val="accent6">
                  <a:lumMod val="95000"/>
                </a:schemeClr>
              </a:buClr>
              <a:buFont typeface="Wingdings" panose="05000000000000000000" pitchFamily="2" charset="2"/>
              <a:buChar char="Ø"/>
            </a:pPr>
            <a:r>
              <a:rPr lang="en-ZA" sz="1100" kern="200" dirty="0">
                <a:latin typeface="Poppins" panose="00000500000000000000" pitchFamily="2" charset="0"/>
                <a:cs typeface="Poppins" panose="00000500000000000000" pitchFamily="2" charset="0"/>
              </a:rPr>
              <a:t>Launch crowd funding campaigns on platforms like GoFundMe in-order to receive donations from individuals interested in the app</a:t>
            </a:r>
          </a:p>
          <a:p>
            <a:pPr>
              <a:buClr>
                <a:schemeClr val="accent6">
                  <a:lumMod val="95000"/>
                </a:schemeClr>
              </a:buClr>
            </a:pPr>
            <a:endParaRPr lang="en-ZA" sz="1100" kern="200" dirty="0">
              <a:latin typeface="Poppins" panose="00000500000000000000" pitchFamily="2" charset="0"/>
              <a:cs typeface="Poppins" panose="00000500000000000000" pitchFamily="2" charset="0"/>
            </a:endParaRPr>
          </a:p>
          <a:p>
            <a:pPr marL="171450" indent="-171450">
              <a:buClr>
                <a:schemeClr val="accent6">
                  <a:lumMod val="95000"/>
                </a:schemeClr>
              </a:buClr>
              <a:buFont typeface="Wingdings" panose="05000000000000000000" pitchFamily="2" charset="2"/>
              <a:buChar char="Ø"/>
            </a:pPr>
            <a:r>
              <a:rPr lang="en-ZA" sz="1100" kern="200" dirty="0">
                <a:latin typeface="Poppins" panose="00000500000000000000" pitchFamily="2" charset="0"/>
                <a:cs typeface="Poppins" panose="00000500000000000000" pitchFamily="2" charset="0"/>
              </a:rPr>
              <a:t>Propose collaboration with government departments of social development</a:t>
            </a:r>
          </a:p>
          <a:p>
            <a:pPr>
              <a:buClr>
                <a:schemeClr val="accent6">
                  <a:lumMod val="95000"/>
                </a:schemeClr>
              </a:buClr>
            </a:pPr>
            <a:endParaRPr lang="en-ZA" sz="1100" kern="200" dirty="0">
              <a:latin typeface="Poppins" panose="00000500000000000000" pitchFamily="2" charset="0"/>
              <a:cs typeface="Poppins" panose="00000500000000000000" pitchFamily="2" charset="0"/>
            </a:endParaRPr>
          </a:p>
          <a:p>
            <a:pPr marL="171450" indent="-171450">
              <a:buClr>
                <a:schemeClr val="accent6">
                  <a:lumMod val="95000"/>
                </a:schemeClr>
              </a:buClr>
              <a:buFont typeface="Wingdings" panose="05000000000000000000" pitchFamily="2" charset="2"/>
              <a:buChar char="Ø"/>
            </a:pPr>
            <a:r>
              <a:rPr lang="en-ZA" sz="1100" kern="200" dirty="0">
                <a:latin typeface="Poppins" panose="00000500000000000000" pitchFamily="2" charset="0"/>
                <a:cs typeface="Poppins" panose="00000500000000000000" pitchFamily="2" charset="0"/>
              </a:rPr>
              <a:t>Partner with tech companies for example Google.org or Microsoft Philanthropies and local telecoms or banks</a:t>
            </a:r>
          </a:p>
          <a:p>
            <a:pPr marL="171450" indent="-171450" algn="ctr">
              <a:buFont typeface="Wingdings" panose="05000000000000000000" pitchFamily="2" charset="2"/>
              <a:buChar char="Ø"/>
            </a:pPr>
            <a:endParaRPr lang="en-ZA"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sp>
        <p:nvSpPr>
          <p:cNvPr id="656" name="Google Shape;656;p53"/>
          <p:cNvSpPr/>
          <p:nvPr/>
        </p:nvSpPr>
        <p:spPr>
          <a:xfrm>
            <a:off x="0" y="0"/>
            <a:ext cx="1135605" cy="1071179"/>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53"/>
          <p:cNvSpPr txBox="1">
            <a:spLocks noGrp="1"/>
          </p:cNvSpPr>
          <p:nvPr>
            <p:ph type="title" idx="14"/>
          </p:nvPr>
        </p:nvSpPr>
        <p:spPr>
          <a:xfrm>
            <a:off x="1112125" y="124470"/>
            <a:ext cx="7717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 &amp;Call To Action </a:t>
            </a:r>
            <a:endParaRPr dirty="0"/>
          </a:p>
        </p:txBody>
      </p:sp>
      <p:sp>
        <p:nvSpPr>
          <p:cNvPr id="658" name="Google Shape;658;p53"/>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11</a:t>
            </a:fld>
            <a:endParaRPr/>
          </a:p>
        </p:txBody>
      </p:sp>
      <p:sp>
        <p:nvSpPr>
          <p:cNvPr id="659" name="Google Shape;659;p53"/>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660" name="Google Shape;660;p53"/>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663" name="Google Shape;663;p53"/>
          <p:cNvSpPr txBox="1">
            <a:spLocks noGrp="1"/>
          </p:cNvSpPr>
          <p:nvPr>
            <p:ph type="title" idx="4"/>
          </p:nvPr>
        </p:nvSpPr>
        <p:spPr>
          <a:xfrm>
            <a:off x="175398" y="265223"/>
            <a:ext cx="807000" cy="498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08</a:t>
            </a:r>
            <a:endParaRPr dirty="0"/>
          </a:p>
        </p:txBody>
      </p:sp>
      <p:sp>
        <p:nvSpPr>
          <p:cNvPr id="671" name="Google Shape;671;p53"/>
          <p:cNvSpPr/>
          <p:nvPr/>
        </p:nvSpPr>
        <p:spPr>
          <a:xfrm rot="-7532134" flipH="1">
            <a:off x="737152" y="1656699"/>
            <a:ext cx="2844591" cy="2844591"/>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a:buNone/>
            </a:pPr>
            <a:endParaRPr lang="en-US" dirty="0"/>
          </a:p>
        </p:txBody>
      </p:sp>
      <p:sp>
        <p:nvSpPr>
          <p:cNvPr id="2" name="Google Shape;671;p53">
            <a:extLst>
              <a:ext uri="{FF2B5EF4-FFF2-40B4-BE49-F238E27FC236}">
                <a16:creationId xmlns:a16="http://schemas.microsoft.com/office/drawing/2014/main" id="{D3634860-5140-B7E5-0297-045084E4EC7D}"/>
              </a:ext>
            </a:extLst>
          </p:cNvPr>
          <p:cNvSpPr/>
          <p:nvPr/>
        </p:nvSpPr>
        <p:spPr>
          <a:xfrm rot="-7532134" flipH="1">
            <a:off x="3020221" y="3133504"/>
            <a:ext cx="2844591" cy="2844591"/>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ZA" dirty="0"/>
              <a:t>v</a:t>
            </a:r>
            <a:endParaRPr dirty="0"/>
          </a:p>
        </p:txBody>
      </p:sp>
      <p:sp>
        <p:nvSpPr>
          <p:cNvPr id="3" name="Google Shape;671;p53">
            <a:extLst>
              <a:ext uri="{FF2B5EF4-FFF2-40B4-BE49-F238E27FC236}">
                <a16:creationId xmlns:a16="http://schemas.microsoft.com/office/drawing/2014/main" id="{40DE0406-78E2-58F3-0447-6A2232B9BA1C}"/>
              </a:ext>
            </a:extLst>
          </p:cNvPr>
          <p:cNvSpPr/>
          <p:nvPr/>
        </p:nvSpPr>
        <p:spPr>
          <a:xfrm rot="-7532134" flipH="1">
            <a:off x="5171859" y="1515860"/>
            <a:ext cx="3001153" cy="2904636"/>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671;p53">
            <a:extLst>
              <a:ext uri="{FF2B5EF4-FFF2-40B4-BE49-F238E27FC236}">
                <a16:creationId xmlns:a16="http://schemas.microsoft.com/office/drawing/2014/main" id="{CFF3555C-BDE3-584B-4E77-A3C9A541C7F8}"/>
              </a:ext>
            </a:extLst>
          </p:cNvPr>
          <p:cNvSpPr/>
          <p:nvPr/>
        </p:nvSpPr>
        <p:spPr>
          <a:xfrm rot="-7532134" flipH="1">
            <a:off x="2932402" y="319953"/>
            <a:ext cx="2844591" cy="2844591"/>
          </a:xfrm>
          <a:prstGeom prst="ellipse">
            <a:avLst/>
          </a:prstGeom>
          <a:gradFill>
            <a:gsLst>
              <a:gs pos="0">
                <a:schemeClr val="accent2">
                  <a:alpha val="20540"/>
                </a:schemeClr>
              </a:gs>
              <a:gs pos="100000">
                <a:srgbClr val="737373">
                  <a:alpha val="0"/>
                  <a:alpha val="2054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extBox 5">
            <a:extLst>
              <a:ext uri="{FF2B5EF4-FFF2-40B4-BE49-F238E27FC236}">
                <a16:creationId xmlns:a16="http://schemas.microsoft.com/office/drawing/2014/main" id="{C4F87AE8-7053-B618-FA46-57B5A021BA9A}"/>
              </a:ext>
            </a:extLst>
          </p:cNvPr>
          <p:cNvSpPr txBox="1"/>
          <p:nvPr/>
        </p:nvSpPr>
        <p:spPr>
          <a:xfrm>
            <a:off x="3123535" y="788979"/>
            <a:ext cx="2407920" cy="1384995"/>
          </a:xfrm>
          <a:prstGeom prst="rect">
            <a:avLst/>
          </a:prstGeom>
          <a:noFill/>
        </p:spPr>
        <p:txBody>
          <a:bodyPr wrap="square" rtlCol="0">
            <a:spAutoFit/>
          </a:bodyPr>
          <a:lstStyle/>
          <a:p>
            <a:r>
              <a:rPr lang="en-US" dirty="0">
                <a:solidFill>
                  <a:schemeClr val="accent6">
                    <a:lumMod val="95000"/>
                  </a:schemeClr>
                </a:solidFill>
                <a:latin typeface="Poppins" panose="00000500000000000000" pitchFamily="2" charset="0"/>
                <a:cs typeface="Poppins" panose="00000500000000000000" pitchFamily="2" charset="0"/>
              </a:rPr>
              <a:t>SafeCircle goes beyond the scope of an ordinary mobile application; it is a vital tool for many victims of gender-based violence in South Africa</a:t>
            </a:r>
            <a:endParaRPr lang="en-ZA" dirty="0">
              <a:solidFill>
                <a:schemeClr val="accent6">
                  <a:lumMod val="95000"/>
                </a:schemeClr>
              </a:solidFill>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5FD091A6-3E23-BF02-A714-FF67D9A299A1}"/>
              </a:ext>
            </a:extLst>
          </p:cNvPr>
          <p:cNvSpPr txBox="1"/>
          <p:nvPr/>
        </p:nvSpPr>
        <p:spPr>
          <a:xfrm>
            <a:off x="5610573" y="2020303"/>
            <a:ext cx="2598684" cy="2248276"/>
          </a:xfrm>
          <a:prstGeom prst="rect">
            <a:avLst/>
          </a:prstGeom>
          <a:noFill/>
        </p:spPr>
        <p:txBody>
          <a:bodyPr wrap="square" rtlCol="0">
            <a:spAutoFit/>
          </a:bodyPr>
          <a:lstStyle/>
          <a:p>
            <a:pPr>
              <a:buNone/>
            </a:pPr>
            <a:r>
              <a:rPr lang="en-US" b="1" dirty="0">
                <a:solidFill>
                  <a:schemeClr val="accent2"/>
                </a:solidFill>
              </a:rPr>
              <a:t>Together, we have the potential to:</a:t>
            </a:r>
            <a:endParaRPr lang="en-US" dirty="0">
              <a:solidFill>
                <a:schemeClr val="accent2"/>
              </a:solidFill>
            </a:endParaRP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latin typeface="Poppins" panose="00000500000000000000" pitchFamily="2" charset="0"/>
                <a:cs typeface="Poppins" panose="00000500000000000000" pitchFamily="2" charset="0"/>
              </a:rPr>
              <a:t>Break the cycle of the existing culture of silence</a:t>
            </a: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latin typeface="Poppins" panose="00000500000000000000" pitchFamily="2" charset="0"/>
                <a:cs typeface="Poppins" panose="00000500000000000000" pitchFamily="2" charset="0"/>
              </a:rPr>
              <a:t>Reduce response times</a:t>
            </a: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latin typeface="Poppins" panose="00000500000000000000" pitchFamily="2" charset="0"/>
                <a:cs typeface="Poppins" panose="00000500000000000000" pitchFamily="2" charset="0"/>
              </a:rPr>
              <a:t>Support the creation of stronger and more secure communities</a:t>
            </a:r>
          </a:p>
          <a:p>
            <a:endParaRPr lang="en-ZA" dirty="0">
              <a:solidFill>
                <a:schemeClr val="accent6">
                  <a:lumMod val="95000"/>
                </a:schemeClr>
              </a:solidFill>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8232F4C4-0646-5EE8-843C-916BC0694048}"/>
              </a:ext>
            </a:extLst>
          </p:cNvPr>
          <p:cNvSpPr txBox="1"/>
          <p:nvPr/>
        </p:nvSpPr>
        <p:spPr>
          <a:xfrm>
            <a:off x="1064808" y="2312866"/>
            <a:ext cx="2407920" cy="1600438"/>
          </a:xfrm>
          <a:prstGeom prst="rect">
            <a:avLst/>
          </a:prstGeom>
          <a:noFill/>
        </p:spPr>
        <p:txBody>
          <a:bodyPr wrap="square" rtlCol="0">
            <a:spAutoFit/>
          </a:bodyPr>
          <a:lstStyle/>
          <a:p>
            <a:pPr>
              <a:buNone/>
            </a:pPr>
            <a:r>
              <a:rPr lang="en-US" b="1" dirty="0">
                <a:solidFill>
                  <a:schemeClr val="accent2"/>
                </a:solidFill>
              </a:rPr>
              <a:t>Your gift will help us:</a:t>
            </a:r>
            <a:endParaRPr lang="en-US" dirty="0">
              <a:solidFill>
                <a:schemeClr val="accent2"/>
              </a:solidFill>
            </a:endParaRP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latin typeface="Poppins" panose="00000500000000000000" pitchFamily="2" charset="0"/>
                <a:cs typeface="Poppins" panose="00000500000000000000" pitchFamily="2" charset="0"/>
              </a:rPr>
              <a:t>Increase this vital resource</a:t>
            </a: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latin typeface="Poppins" panose="00000500000000000000" pitchFamily="2" charset="0"/>
                <a:cs typeface="Poppins" panose="00000500000000000000" pitchFamily="2" charset="0"/>
              </a:rPr>
              <a:t>Save lives</a:t>
            </a:r>
          </a:p>
          <a:p>
            <a:pPr marL="285750" indent="-285750">
              <a:buClr>
                <a:schemeClr val="accent6">
                  <a:lumMod val="95000"/>
                </a:schemeClr>
              </a:buClr>
              <a:buFont typeface="Wingdings" panose="05000000000000000000" pitchFamily="2" charset="2"/>
              <a:buChar char="Ø"/>
            </a:pPr>
            <a:r>
              <a:rPr lang="en-US" dirty="0">
                <a:solidFill>
                  <a:schemeClr val="accent6">
                    <a:lumMod val="95000"/>
                  </a:schemeClr>
                </a:solidFill>
                <a:latin typeface="Poppins" panose="00000500000000000000" pitchFamily="2" charset="0"/>
                <a:cs typeface="Poppins" panose="00000500000000000000" pitchFamily="2" charset="0"/>
              </a:rPr>
              <a:t>Create enduring change</a:t>
            </a:r>
          </a:p>
          <a:p>
            <a:endParaRPr lang="en-ZA" dirty="0">
              <a:solidFill>
                <a:schemeClr val="accent6">
                  <a:lumMod val="95000"/>
                </a:schemeClr>
              </a:solidFill>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5836D500-2437-FA41-8EC3-035D4CBA9367}"/>
              </a:ext>
            </a:extLst>
          </p:cNvPr>
          <p:cNvSpPr txBox="1"/>
          <p:nvPr/>
        </p:nvSpPr>
        <p:spPr>
          <a:xfrm>
            <a:off x="3065805" y="3881540"/>
            <a:ext cx="3012340" cy="738664"/>
          </a:xfrm>
          <a:prstGeom prst="rect">
            <a:avLst/>
          </a:prstGeom>
          <a:noFill/>
        </p:spPr>
        <p:txBody>
          <a:bodyPr wrap="square" rtlCol="0">
            <a:spAutoFit/>
          </a:bodyPr>
          <a:lstStyle/>
          <a:p>
            <a:r>
              <a:rPr lang="en-US" dirty="0">
                <a:solidFill>
                  <a:schemeClr val="accent6">
                    <a:lumMod val="95000"/>
                  </a:schemeClr>
                </a:solidFill>
                <a:latin typeface="Poppins" panose="00000500000000000000" pitchFamily="2" charset="0"/>
                <a:cs typeface="Poppins" panose="00000500000000000000" pitchFamily="2" charset="0"/>
              </a:rPr>
              <a:t>Together, we can break the silence, empower survivors, and build a safer future for all.</a:t>
            </a:r>
            <a:endParaRPr lang="en-ZA" dirty="0">
              <a:solidFill>
                <a:schemeClr val="accent6">
                  <a:lumMod val="95000"/>
                </a:schemeClr>
              </a:solidFill>
              <a:latin typeface="Poppins" panose="00000500000000000000" pitchFamily="2" charset="0"/>
              <a:cs typeface="Poppins" panose="00000500000000000000"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75"/>
        <p:cNvGrpSpPr/>
        <p:nvPr/>
      </p:nvGrpSpPr>
      <p:grpSpPr>
        <a:xfrm>
          <a:off x="0" y="0"/>
          <a:ext cx="0" cy="0"/>
          <a:chOff x="0" y="0"/>
          <a:chExt cx="0" cy="0"/>
        </a:xfrm>
      </p:grpSpPr>
      <p:sp>
        <p:nvSpPr>
          <p:cNvPr id="676" name="Google Shape;676;p54"/>
          <p:cNvSpPr/>
          <p:nvPr/>
        </p:nvSpPr>
        <p:spPr>
          <a:xfrm>
            <a:off x="2570568" y="3096244"/>
            <a:ext cx="4002900" cy="489300"/>
          </a:xfrm>
          <a:prstGeom prst="roundRect">
            <a:avLst>
              <a:gd name="adj" fmla="val 50000"/>
            </a:avLst>
          </a:prstGeom>
          <a:solidFill>
            <a:srgbClr val="FFFFFF">
              <a:alpha val="205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4"/>
          <p:cNvSpPr txBox="1">
            <a:spLocks noGrp="1"/>
          </p:cNvSpPr>
          <p:nvPr>
            <p:ph type="title"/>
          </p:nvPr>
        </p:nvSpPr>
        <p:spPr>
          <a:xfrm>
            <a:off x="2905609" y="3153844"/>
            <a:ext cx="3330000" cy="374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—Mbuyiselo Botha</a:t>
            </a:r>
            <a:endParaRPr dirty="0"/>
          </a:p>
        </p:txBody>
      </p:sp>
      <p:sp>
        <p:nvSpPr>
          <p:cNvPr id="678" name="Google Shape;678;p54"/>
          <p:cNvSpPr txBox="1">
            <a:spLocks noGrp="1"/>
          </p:cNvSpPr>
          <p:nvPr>
            <p:ph type="sldNum" idx="12"/>
          </p:nvPr>
        </p:nvSpPr>
        <p:spPr>
          <a:xfrm>
            <a:off x="713075" y="4616554"/>
            <a:ext cx="455700" cy="30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12</a:t>
            </a:fld>
            <a:endParaRPr/>
          </a:p>
        </p:txBody>
      </p:sp>
      <p:sp>
        <p:nvSpPr>
          <p:cNvPr id="679" name="Google Shape;679;p54"/>
          <p:cNvSpPr txBox="1">
            <a:spLocks noGrp="1"/>
          </p:cNvSpPr>
          <p:nvPr>
            <p:ph type="subTitle" idx="1"/>
          </p:nvPr>
        </p:nvSpPr>
        <p:spPr>
          <a:xfrm>
            <a:off x="3331775" y="4623854"/>
            <a:ext cx="2480400" cy="307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SafeCircle</a:t>
            </a:r>
            <a:endParaRPr dirty="0"/>
          </a:p>
        </p:txBody>
      </p:sp>
      <p:sp>
        <p:nvSpPr>
          <p:cNvPr id="680" name="Google Shape;680;p54"/>
          <p:cNvSpPr txBox="1">
            <a:spLocks noGrp="1"/>
          </p:cNvSpPr>
          <p:nvPr>
            <p:ph type="subTitle" idx="2"/>
          </p:nvPr>
        </p:nvSpPr>
        <p:spPr>
          <a:xfrm>
            <a:off x="7332925" y="4623854"/>
            <a:ext cx="1098000" cy="3075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2025</a:t>
            </a:r>
            <a:endParaRPr dirty="0"/>
          </a:p>
        </p:txBody>
      </p:sp>
      <p:sp>
        <p:nvSpPr>
          <p:cNvPr id="681" name="Google Shape;681;p54"/>
          <p:cNvSpPr txBox="1">
            <a:spLocks noGrp="1"/>
          </p:cNvSpPr>
          <p:nvPr>
            <p:ph type="subTitle" idx="3"/>
          </p:nvPr>
        </p:nvSpPr>
        <p:spPr>
          <a:xfrm>
            <a:off x="1920210" y="703018"/>
            <a:ext cx="5852190" cy="222306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a:t>
            </a:r>
            <a:r>
              <a:rPr lang="en-ZA" dirty="0"/>
              <a:t>When we keep quiet, when we look the other way, we are complicit. We are condoning. We are conniving when in fact we do not visibly and practically speak out and call each other out</a:t>
            </a:r>
            <a:r>
              <a:rPr lang="en" dirty="0"/>
              <a:t>”</a:t>
            </a:r>
            <a:endParaRPr dirty="0"/>
          </a:p>
        </p:txBody>
      </p:sp>
      <p:sp>
        <p:nvSpPr>
          <p:cNvPr id="3" name="Google Shape;677;p54">
            <a:extLst>
              <a:ext uri="{FF2B5EF4-FFF2-40B4-BE49-F238E27FC236}">
                <a16:creationId xmlns:a16="http://schemas.microsoft.com/office/drawing/2014/main" id="{006BA346-119B-9EED-EEEE-F2F1A9C9F954}"/>
              </a:ext>
            </a:extLst>
          </p:cNvPr>
          <p:cNvSpPr txBox="1">
            <a:spLocks/>
          </p:cNvSpPr>
          <p:nvPr/>
        </p:nvSpPr>
        <p:spPr>
          <a:xfrm>
            <a:off x="1724957" y="3964389"/>
            <a:ext cx="5694085" cy="3075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1pPr>
            <a:lvl2pPr marR="0" lvl="1"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2pPr>
            <a:lvl3pPr marR="0" lvl="2"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3pPr>
            <a:lvl4pPr marR="0" lvl="3"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4pPr>
            <a:lvl5pPr marR="0" lvl="4"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5pPr>
            <a:lvl6pPr marR="0" lvl="5"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6pPr>
            <a:lvl7pPr marR="0" lvl="6"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7pPr>
            <a:lvl8pPr marR="0" lvl="7"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8pPr>
            <a:lvl9pPr marR="0" lvl="8" algn="ctr" rtl="0">
              <a:lnSpc>
                <a:spcPct val="100000"/>
              </a:lnSpc>
              <a:spcBef>
                <a:spcPts val="0"/>
              </a:spcBef>
              <a:spcAft>
                <a:spcPts val="0"/>
              </a:spcAft>
              <a:buClr>
                <a:schemeClr val="lt1"/>
              </a:buClr>
              <a:buSzPts val="2200"/>
              <a:buFont typeface="Poppins SemiBold"/>
              <a:buNone/>
              <a:defRPr sz="2200" b="0" i="0" u="none" strike="noStrike" cap="none">
                <a:solidFill>
                  <a:schemeClr val="lt1"/>
                </a:solidFill>
                <a:latin typeface="Poppins SemiBold"/>
                <a:ea typeface="Poppins SemiBold"/>
                <a:cs typeface="Poppins SemiBold"/>
                <a:sym typeface="Poppins SemiBold"/>
              </a:defRPr>
            </a:lvl9pPr>
          </a:lstStyle>
          <a:p>
            <a:r>
              <a:rPr lang="en-ZA" sz="1200" dirty="0">
                <a:latin typeface="Poppins ExtraLight" panose="020B0502040204020203" pitchFamily="2" charset="0"/>
                <a:cs typeface="Poppins ExtraLight" panose="020B0502040204020203" pitchFamily="2" charset="0"/>
              </a:rPr>
              <a:t>#Justice </a:t>
            </a:r>
          </a:p>
        </p:txBody>
      </p:sp>
    </p:spTree>
  </p:cSld>
  <p:clrMapOvr>
    <a:masterClrMapping/>
  </p:clrMapOvr>
</p:sld>
</file>

<file path=ppt/theme/theme1.xml><?xml version="1.0" encoding="utf-8"?>
<a:theme xmlns:a="http://schemas.openxmlformats.org/drawingml/2006/main" name="Product Vision Pitch Deck by Slidesgo">
  <a:themeElements>
    <a:clrScheme name="Simple Light">
      <a:dk1>
        <a:srgbClr val="373737"/>
      </a:dk1>
      <a:lt1>
        <a:srgbClr val="FFFFFF"/>
      </a:lt1>
      <a:dk2>
        <a:srgbClr val="5B5555"/>
      </a:dk2>
      <a:lt2>
        <a:srgbClr val="A8A7A7"/>
      </a:lt2>
      <a:accent1>
        <a:srgbClr val="E2185B"/>
      </a:accent1>
      <a:accent2>
        <a:srgbClr val="CC527A"/>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TotalTime>
  <Words>789</Words>
  <Application>Microsoft Office PowerPoint</Application>
  <PresentationFormat>On-screen Show (16:9)</PresentationFormat>
  <Paragraphs>158</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Poppins SemiBold</vt:lpstr>
      <vt:lpstr>Poppins</vt:lpstr>
      <vt:lpstr>Poppins ExtraLight</vt:lpstr>
      <vt:lpstr>Wingdings</vt:lpstr>
      <vt:lpstr>Arial</vt:lpstr>
      <vt:lpstr>Product Vision Pitch Deck by Slidesgo</vt:lpstr>
      <vt:lpstr>SafeCircle GBV EMERGENCY SUPPORT APP</vt:lpstr>
      <vt:lpstr>Introduction&amp; Team Overview</vt:lpstr>
      <vt:lpstr>Introduction</vt:lpstr>
      <vt:lpstr>Our team</vt:lpstr>
      <vt:lpstr>Challenge definition: GBV  in South Africa</vt:lpstr>
      <vt:lpstr>Proposed Solution </vt:lpstr>
      <vt:lpstr>How SafeCircle Works  </vt:lpstr>
      <vt:lpstr>KEY FEATURES </vt:lpstr>
      <vt:lpstr>Community Impact</vt:lpstr>
      <vt:lpstr>Business Model and Support Strategy</vt:lpstr>
      <vt:lpstr>Conclusion &amp;Call To Action </vt:lpstr>
      <vt:lpstr>—Mbuyiselo Botha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TumeloS</dc:creator>
  <cp:lastModifiedBy>Tumelo Tumi</cp:lastModifiedBy>
  <cp:revision>1</cp:revision>
  <dcterms:modified xsi:type="dcterms:W3CDTF">2025-05-09T10:07:19Z</dcterms:modified>
</cp:coreProperties>
</file>